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6858000" type="screen4x3"/>
  <p:notesSz cx="6858000" cy="9144000"/>
  <p:embeddedFontLst>
    <p:embeddedFont>
      <p:font typeface="Book Antiqua" panose="02040602050305030304" pitchFamily="18" charset="0"/>
      <p:regular r:id="rId16"/>
      <p:bold r:id="rId17"/>
      <p:italic r:id="rId18"/>
      <p:boldItalic r:id="rId1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1008" y="4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86" name="Google Shape;86;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 name="Google Shape;87;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latin typeface="Arial"/>
                <a:ea typeface="Arial"/>
                <a:cs typeface="Arial"/>
                <a:sym typeface="Arial"/>
              </a:rPr>
              <a:t>1</a:t>
            </a:fld>
            <a:endParaRPr>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 name="Google Shape;96;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4" name="Google Shape;114;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0" name="Google Shape;120;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6" name="Google Shape;126;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3879559ac25_0_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g3879559ac25_0_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8" name="Google Shape;138;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4" name="Google Shape;144;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1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1" name="Google Shape;151;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1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7" name="Google Shape;157;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1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3" name="Google Shape;163;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18" name="Google Shape;18;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4" name="Google Shape;24;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4"/>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4000"/>
              <a:buFont typeface="Calibri"/>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4"/>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30" name="Google Shape;30;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5"/>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6" name="Google Shape;36;p5"/>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7" name="Google Shape;37;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6"/>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5" name="Google Shape;45;p6"/>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6" name="Google Shape;46;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61" name="Google Shape;61;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2" name="Google Shape;62;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0"/>
          <p:cNvSpPr>
            <a:spLocks noGrp="1"/>
          </p:cNvSpPr>
          <p:nvPr>
            <p:ph type="pic" idx="2"/>
          </p:nvPr>
        </p:nvSpPr>
        <p:spPr>
          <a:xfrm>
            <a:off x="1792288" y="612775"/>
            <a:ext cx="5486400" cy="4114800"/>
          </a:xfrm>
          <a:prstGeom prst="rect">
            <a:avLst/>
          </a:prstGeom>
          <a:noFill/>
          <a:ln>
            <a:noFill/>
          </a:ln>
        </p:spPr>
      </p:sp>
      <p:sp>
        <p:nvSpPr>
          <p:cNvPr id="68" name="Google Shape;68;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9" name="Google Shape;69;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5" name="Google Shape;75;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81" name="Google Shape;81;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3"/>
          <p:cNvSpPr/>
          <p:nvPr/>
        </p:nvSpPr>
        <p:spPr>
          <a:xfrm>
            <a:off x="300094" y="2485813"/>
            <a:ext cx="8615305" cy="83099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a:solidFill>
                  <a:schemeClr val="dk1"/>
                </a:solidFill>
                <a:latin typeface="Times New Roman"/>
                <a:ea typeface="Times New Roman"/>
                <a:cs typeface="Times New Roman"/>
                <a:sym typeface="Times New Roman"/>
              </a:rPr>
              <a:t>PROSTATE CANCER PREDICTION USING DEEP LEARNING</a:t>
            </a:r>
            <a:endParaRPr sz="2400" b="1" i="0" u="none" strike="noStrike" cap="none">
              <a:solidFill>
                <a:srgbClr val="000000"/>
              </a:solidFill>
              <a:latin typeface="Times New Roman"/>
              <a:ea typeface="Times New Roman"/>
              <a:cs typeface="Times New Roman"/>
              <a:sym typeface="Times New Roman"/>
            </a:endParaRPr>
          </a:p>
        </p:txBody>
      </p:sp>
      <p:sp>
        <p:nvSpPr>
          <p:cNvPr id="90" name="Google Shape;90;p13"/>
          <p:cNvSpPr/>
          <p:nvPr/>
        </p:nvSpPr>
        <p:spPr>
          <a:xfrm>
            <a:off x="2667000" y="5638800"/>
            <a:ext cx="4191000" cy="1107996"/>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chemeClr val="dk1"/>
                </a:solidFill>
                <a:latin typeface="Times New Roman"/>
                <a:ea typeface="Times New Roman"/>
                <a:cs typeface="Times New Roman"/>
                <a:sym typeface="Times New Roman"/>
              </a:rPr>
              <a:t>Guided By,</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Times New Roman"/>
                <a:ea typeface="Times New Roman"/>
                <a:cs typeface="Times New Roman"/>
                <a:sym typeface="Times New Roman"/>
              </a:rPr>
              <a:t>Dr. S. Kanithan,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Times New Roman"/>
                <a:ea typeface="Times New Roman"/>
                <a:cs typeface="Times New Roman"/>
                <a:sym typeface="Times New Roman"/>
              </a:rPr>
              <a:t>Assistant Professor / CSE(AIML)</a:t>
            </a:r>
            <a:endParaRPr sz="1400" b="0" i="0" u="none" strike="noStrike" cap="none">
              <a:solidFill>
                <a:srgbClr val="000000"/>
              </a:solidFill>
              <a:latin typeface="Arial"/>
              <a:ea typeface="Arial"/>
              <a:cs typeface="Arial"/>
              <a:sym typeface="Arial"/>
            </a:endParaRPr>
          </a:p>
        </p:txBody>
      </p:sp>
      <p:sp>
        <p:nvSpPr>
          <p:cNvPr id="91" name="Google Shape;91;p13"/>
          <p:cNvSpPr/>
          <p:nvPr/>
        </p:nvSpPr>
        <p:spPr>
          <a:xfrm>
            <a:off x="1714499" y="3587172"/>
            <a:ext cx="5715000" cy="187743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dirty="0">
                <a:solidFill>
                  <a:schemeClr val="dk1"/>
                </a:solidFill>
                <a:latin typeface="Times New Roman"/>
                <a:ea typeface="Times New Roman"/>
                <a:cs typeface="Times New Roman"/>
                <a:sym typeface="Times New Roman"/>
              </a:rPr>
              <a:t>TEAM MEMBERS:</a:t>
            </a:r>
            <a:endParaRPr sz="1400" b="1" i="0" u="none" strike="noStrike" cap="none" dirty="0">
              <a:solidFill>
                <a:schemeClr val="dk1"/>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dirty="0">
                <a:solidFill>
                  <a:schemeClr val="dk1"/>
                </a:solidFill>
                <a:latin typeface="Times New Roman"/>
                <a:ea typeface="Times New Roman"/>
                <a:cs typeface="Times New Roman"/>
                <a:sym typeface="Times New Roman"/>
              </a:rPr>
              <a:t> P. DINISHITHA REDDY (23BTRCL065)</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dirty="0">
                <a:solidFill>
                  <a:schemeClr val="dk1"/>
                </a:solidFill>
                <a:latin typeface="Times New Roman"/>
                <a:ea typeface="Times New Roman"/>
                <a:cs typeface="Times New Roman"/>
                <a:sym typeface="Times New Roman"/>
              </a:rPr>
              <a:t>B. SUMITH REDDY (23BTRCL171)</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dirty="0">
                <a:solidFill>
                  <a:schemeClr val="dk1"/>
                </a:solidFill>
                <a:latin typeface="Times New Roman"/>
                <a:ea typeface="Times New Roman"/>
                <a:cs typeface="Times New Roman"/>
                <a:sym typeface="Times New Roman"/>
              </a:rPr>
              <a:t>D. MAHESH (23BTRCL177)</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dirty="0">
                <a:solidFill>
                  <a:schemeClr val="dk1"/>
                </a:solidFill>
                <a:latin typeface="Times New Roman"/>
                <a:ea typeface="Times New Roman"/>
                <a:cs typeface="Times New Roman"/>
                <a:sym typeface="Times New Roman"/>
              </a:rPr>
              <a:t>B. TEJESHWARA REDDY (23BTRCL253)</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dirty="0">
                <a:solidFill>
                  <a:schemeClr val="dk1"/>
                </a:solidFill>
                <a:latin typeface="Times New Roman"/>
                <a:ea typeface="Times New Roman"/>
                <a:cs typeface="Times New Roman"/>
                <a:sym typeface="Times New Roman"/>
              </a:rPr>
              <a:t>B.SADWIK(23BTRCL170</a:t>
            </a:r>
            <a:r>
              <a:rPr lang="en-US" sz="1400" b="1" i="0" u="none" strike="noStrike" cap="none" dirty="0">
                <a:solidFill>
                  <a:schemeClr val="dk1"/>
                </a:solidFill>
                <a:latin typeface="Times New Roman"/>
                <a:ea typeface="Times New Roman"/>
                <a:cs typeface="Times New Roman"/>
                <a:sym typeface="Times New Roman"/>
              </a:rPr>
              <a:t>)</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rgbClr val="FF0066"/>
              </a:solidFill>
              <a:latin typeface="Times New Roman"/>
              <a:ea typeface="Times New Roman"/>
              <a:cs typeface="Times New Roman"/>
              <a:sym typeface="Times New Roman"/>
            </a:endParaRPr>
          </a:p>
        </p:txBody>
      </p:sp>
      <p:pic>
        <p:nvPicPr>
          <p:cNvPr id="92" name="Google Shape;92;p13"/>
          <p:cNvPicPr preferRelativeResize="0"/>
          <p:nvPr/>
        </p:nvPicPr>
        <p:blipFill rotWithShape="1">
          <a:blip r:embed="rId3">
            <a:alphaModFix/>
          </a:blip>
          <a:srcRect/>
          <a:stretch/>
        </p:blipFill>
        <p:spPr>
          <a:xfrm>
            <a:off x="300094" y="288005"/>
            <a:ext cx="8315211" cy="1226185"/>
          </a:xfrm>
          <a:prstGeom prst="rect">
            <a:avLst/>
          </a:prstGeom>
          <a:noFill/>
          <a:ln>
            <a:noFill/>
          </a:ln>
        </p:spPr>
      </p:pic>
      <p:sp>
        <p:nvSpPr>
          <p:cNvPr id="93" name="Google Shape;93;p13"/>
          <p:cNvSpPr txBox="1"/>
          <p:nvPr/>
        </p:nvSpPr>
        <p:spPr>
          <a:xfrm>
            <a:off x="3581399" y="1806733"/>
            <a:ext cx="1981200" cy="43088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chemeClr val="dk1"/>
                </a:solidFill>
                <a:latin typeface="Times New Roman"/>
                <a:ea typeface="Times New Roman"/>
                <a:cs typeface="Times New Roman"/>
                <a:sym typeface="Times New Roman"/>
              </a:rPr>
              <a:t>Team No. 21</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100000"/>
              <a:buFont typeface="Times New Roman"/>
              <a:buNone/>
            </a:pPr>
            <a:br>
              <a:rPr lang="en-US" b="1">
                <a:latin typeface="Times New Roman"/>
                <a:ea typeface="Times New Roman"/>
                <a:cs typeface="Times New Roman"/>
                <a:sym typeface="Times New Roman"/>
              </a:rPr>
            </a:br>
            <a:r>
              <a:rPr lang="en-US" b="1">
                <a:latin typeface="Times New Roman"/>
                <a:ea typeface="Times New Roman"/>
                <a:cs typeface="Times New Roman"/>
                <a:sym typeface="Times New Roman"/>
              </a:rPr>
              <a:t>CONTENTS</a:t>
            </a:r>
            <a:br>
              <a:rPr lang="en-US" b="1">
                <a:latin typeface="Book Antiqua"/>
                <a:ea typeface="Book Antiqua"/>
                <a:cs typeface="Book Antiqua"/>
                <a:sym typeface="Book Antiqua"/>
              </a:rPr>
            </a:br>
            <a:endParaRPr/>
          </a:p>
        </p:txBody>
      </p:sp>
      <p:sp>
        <p:nvSpPr>
          <p:cNvPr id="99" name="Google Shape;99;p1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fontScale="85000" lnSpcReduction="20000"/>
          </a:bodyPr>
          <a:lstStyle/>
          <a:p>
            <a:pPr marL="342900" lvl="0" indent="-342900" algn="l" rtl="0">
              <a:lnSpc>
                <a:spcPct val="150000"/>
              </a:lnSpc>
              <a:spcBef>
                <a:spcPts val="0"/>
              </a:spcBef>
              <a:spcAft>
                <a:spcPts val="0"/>
              </a:spcAft>
              <a:buClr>
                <a:srgbClr val="3F3F3F"/>
              </a:buClr>
              <a:buSzPct val="100000"/>
              <a:buFont typeface="Noto Sans Symbols"/>
              <a:buChar char="❖"/>
            </a:pPr>
            <a:r>
              <a:rPr lang="en-US" sz="2800" b="1">
                <a:solidFill>
                  <a:srgbClr val="3F3F3F"/>
                </a:solidFill>
                <a:latin typeface="Times New Roman"/>
                <a:ea typeface="Times New Roman"/>
                <a:cs typeface="Times New Roman"/>
                <a:sym typeface="Times New Roman"/>
              </a:rPr>
              <a:t>Abstract</a:t>
            </a:r>
            <a:endParaRPr/>
          </a:p>
          <a:p>
            <a:pPr marL="342900" lvl="0" indent="-342900" algn="l" rtl="0">
              <a:lnSpc>
                <a:spcPct val="150000"/>
              </a:lnSpc>
              <a:spcBef>
                <a:spcPts val="476"/>
              </a:spcBef>
              <a:spcAft>
                <a:spcPts val="0"/>
              </a:spcAft>
              <a:buClr>
                <a:srgbClr val="3F3F3F"/>
              </a:buClr>
              <a:buSzPct val="100000"/>
              <a:buFont typeface="Noto Sans Symbols"/>
              <a:buChar char="❖"/>
            </a:pPr>
            <a:r>
              <a:rPr lang="en-US" sz="2800" b="1">
                <a:solidFill>
                  <a:srgbClr val="3F3F3F"/>
                </a:solidFill>
                <a:latin typeface="Times New Roman"/>
                <a:ea typeface="Times New Roman"/>
                <a:cs typeface="Times New Roman"/>
                <a:sym typeface="Times New Roman"/>
              </a:rPr>
              <a:t>Introduction</a:t>
            </a:r>
            <a:endParaRPr/>
          </a:p>
          <a:p>
            <a:pPr marL="342900" lvl="0" indent="-342900" algn="l" rtl="0">
              <a:lnSpc>
                <a:spcPct val="150000"/>
              </a:lnSpc>
              <a:spcBef>
                <a:spcPts val="476"/>
              </a:spcBef>
              <a:spcAft>
                <a:spcPts val="0"/>
              </a:spcAft>
              <a:buClr>
                <a:srgbClr val="3F3F3F"/>
              </a:buClr>
              <a:buSzPct val="100000"/>
              <a:buFont typeface="Noto Sans Symbols"/>
              <a:buChar char="❖"/>
            </a:pPr>
            <a:r>
              <a:rPr lang="en-US" sz="2800" b="1">
                <a:solidFill>
                  <a:srgbClr val="3F3F3F"/>
                </a:solidFill>
                <a:latin typeface="Times New Roman"/>
                <a:ea typeface="Times New Roman"/>
                <a:cs typeface="Times New Roman"/>
                <a:sym typeface="Times New Roman"/>
              </a:rPr>
              <a:t>Literature Survey</a:t>
            </a:r>
            <a:endParaRPr/>
          </a:p>
          <a:p>
            <a:pPr marL="342900" lvl="0" indent="-342900" algn="l" rtl="0">
              <a:lnSpc>
                <a:spcPct val="150000"/>
              </a:lnSpc>
              <a:spcBef>
                <a:spcPts val="476"/>
              </a:spcBef>
              <a:spcAft>
                <a:spcPts val="0"/>
              </a:spcAft>
              <a:buClr>
                <a:srgbClr val="3F3F3F"/>
              </a:buClr>
              <a:buSzPct val="100000"/>
              <a:buFont typeface="Noto Sans Symbols"/>
              <a:buChar char="❖"/>
            </a:pPr>
            <a:r>
              <a:rPr lang="en-US" sz="2800" b="1">
                <a:solidFill>
                  <a:srgbClr val="3F3F3F"/>
                </a:solidFill>
                <a:latin typeface="Times New Roman"/>
                <a:ea typeface="Times New Roman"/>
                <a:cs typeface="Times New Roman"/>
                <a:sym typeface="Times New Roman"/>
              </a:rPr>
              <a:t>Existing system</a:t>
            </a:r>
            <a:endParaRPr/>
          </a:p>
          <a:p>
            <a:pPr marL="342900" lvl="0" indent="-342900" algn="l" rtl="0">
              <a:lnSpc>
                <a:spcPct val="150000"/>
              </a:lnSpc>
              <a:spcBef>
                <a:spcPts val="476"/>
              </a:spcBef>
              <a:spcAft>
                <a:spcPts val="0"/>
              </a:spcAft>
              <a:buClr>
                <a:srgbClr val="3F3F3F"/>
              </a:buClr>
              <a:buSzPct val="100000"/>
              <a:buFont typeface="Noto Sans Symbols"/>
              <a:buChar char="❖"/>
            </a:pPr>
            <a:r>
              <a:rPr lang="en-US" sz="2800" b="1">
                <a:solidFill>
                  <a:srgbClr val="3F3F3F"/>
                </a:solidFill>
                <a:latin typeface="Times New Roman"/>
                <a:ea typeface="Times New Roman"/>
                <a:cs typeface="Times New Roman"/>
                <a:sym typeface="Times New Roman"/>
              </a:rPr>
              <a:t>Proposed System </a:t>
            </a:r>
            <a:endParaRPr/>
          </a:p>
          <a:p>
            <a:pPr marL="342900" lvl="0" indent="-342900" algn="l" rtl="0">
              <a:lnSpc>
                <a:spcPct val="150000"/>
              </a:lnSpc>
              <a:spcBef>
                <a:spcPts val="476"/>
              </a:spcBef>
              <a:spcAft>
                <a:spcPts val="0"/>
              </a:spcAft>
              <a:buClr>
                <a:srgbClr val="3F3F3F"/>
              </a:buClr>
              <a:buSzPct val="100000"/>
              <a:buFont typeface="Noto Sans Symbols"/>
              <a:buChar char="❖"/>
            </a:pPr>
            <a:r>
              <a:rPr lang="en-US" sz="2800" b="1">
                <a:solidFill>
                  <a:srgbClr val="3F3F3F"/>
                </a:solidFill>
                <a:latin typeface="Times New Roman"/>
                <a:ea typeface="Times New Roman"/>
                <a:cs typeface="Times New Roman"/>
                <a:sym typeface="Times New Roman"/>
              </a:rPr>
              <a:t>Block diagram</a:t>
            </a:r>
            <a:endParaRPr/>
          </a:p>
          <a:p>
            <a:pPr marL="342900" lvl="0" indent="-342900" algn="l" rtl="0">
              <a:lnSpc>
                <a:spcPct val="150000"/>
              </a:lnSpc>
              <a:spcBef>
                <a:spcPts val="476"/>
              </a:spcBef>
              <a:spcAft>
                <a:spcPts val="0"/>
              </a:spcAft>
              <a:buClr>
                <a:srgbClr val="3F3F3F"/>
              </a:buClr>
              <a:buSzPct val="100000"/>
              <a:buFont typeface="Noto Sans Symbols"/>
              <a:buChar char="❖"/>
            </a:pPr>
            <a:r>
              <a:rPr lang="en-US" sz="2800" b="1">
                <a:solidFill>
                  <a:srgbClr val="3F3F3F"/>
                </a:solidFill>
                <a:latin typeface="Times New Roman"/>
                <a:ea typeface="Times New Roman"/>
                <a:cs typeface="Times New Roman"/>
                <a:sym typeface="Times New Roman"/>
              </a:rPr>
              <a:t>Conclusion</a:t>
            </a:r>
            <a:endParaRPr/>
          </a:p>
          <a:p>
            <a:pPr marL="342900" lvl="0" indent="-342900" algn="l" rtl="0">
              <a:lnSpc>
                <a:spcPct val="150000"/>
              </a:lnSpc>
              <a:spcBef>
                <a:spcPts val="476"/>
              </a:spcBef>
              <a:spcAft>
                <a:spcPts val="0"/>
              </a:spcAft>
              <a:buClr>
                <a:srgbClr val="3F3F3F"/>
              </a:buClr>
              <a:buSzPct val="100000"/>
              <a:buFont typeface="Noto Sans Symbols"/>
              <a:buChar char="❖"/>
            </a:pPr>
            <a:r>
              <a:rPr lang="en-US" sz="2800" b="1">
                <a:solidFill>
                  <a:srgbClr val="3F3F3F"/>
                </a:solidFill>
                <a:latin typeface="Times New Roman"/>
                <a:ea typeface="Times New Roman"/>
                <a:cs typeface="Times New Roman"/>
                <a:sym typeface="Times New Roman"/>
              </a:rPr>
              <a:t>References</a:t>
            </a:r>
            <a:endParaRPr/>
          </a:p>
          <a:p>
            <a:pPr marL="342900" lvl="0" indent="-342900" algn="l" rtl="0">
              <a:lnSpc>
                <a:spcPct val="100000"/>
              </a:lnSpc>
              <a:spcBef>
                <a:spcPts val="544"/>
              </a:spcBef>
              <a:spcAft>
                <a:spcPts val="0"/>
              </a:spcAft>
              <a:buClr>
                <a:schemeClr val="dk1"/>
              </a:buClr>
              <a:buSzPct val="100000"/>
              <a:buNone/>
            </a:pPr>
            <a:endParaRPr b="1">
              <a:solidFill>
                <a:srgbClr val="538CD5"/>
              </a:solidFill>
              <a:latin typeface="Times New Roman"/>
              <a:ea typeface="Times New Roman"/>
              <a:cs typeface="Times New Roman"/>
              <a:sym typeface="Times New Roman"/>
            </a:endParaRPr>
          </a:p>
          <a:p>
            <a:pPr marL="342900" lvl="0" indent="-342900" algn="l" rtl="0">
              <a:lnSpc>
                <a:spcPct val="100000"/>
              </a:lnSpc>
              <a:spcBef>
                <a:spcPts val="544"/>
              </a:spcBef>
              <a:spcAft>
                <a:spcPts val="0"/>
              </a:spcAft>
              <a:buClr>
                <a:schemeClr val="dk1"/>
              </a:buClr>
              <a:buSzPct val="100000"/>
              <a:buNone/>
            </a:pPr>
            <a:endParaRPr b="1">
              <a:solidFill>
                <a:srgbClr val="538CD5"/>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15"/>
          <p:cNvSpPr txBox="1">
            <a:spLocks noGrp="1"/>
          </p:cNvSpPr>
          <p:nvPr>
            <p:ph type="title"/>
          </p:nvPr>
        </p:nvSpPr>
        <p:spPr>
          <a:xfrm>
            <a:off x="381000" y="-138223"/>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000"/>
              <a:buFont typeface="Times New Roman"/>
              <a:buNone/>
            </a:pPr>
            <a:r>
              <a:rPr lang="en-US" sz="4000" b="1">
                <a:latin typeface="Times New Roman"/>
                <a:ea typeface="Times New Roman"/>
                <a:cs typeface="Times New Roman"/>
                <a:sym typeface="Times New Roman"/>
              </a:rPr>
              <a:t>ABSTRACT</a:t>
            </a:r>
            <a:endParaRPr/>
          </a:p>
        </p:txBody>
      </p:sp>
      <p:sp>
        <p:nvSpPr>
          <p:cNvPr id="105" name="Google Shape;105;p15"/>
          <p:cNvSpPr txBox="1">
            <a:spLocks noGrp="1"/>
          </p:cNvSpPr>
          <p:nvPr>
            <p:ph type="body" idx="1"/>
          </p:nvPr>
        </p:nvSpPr>
        <p:spPr>
          <a:xfrm>
            <a:off x="457200" y="1447800"/>
            <a:ext cx="8229600" cy="4419600"/>
          </a:xfrm>
          <a:prstGeom prst="rect">
            <a:avLst/>
          </a:prstGeom>
          <a:noFill/>
          <a:ln>
            <a:noFill/>
          </a:ln>
        </p:spPr>
        <p:txBody>
          <a:bodyPr spcFirstLastPara="1" wrap="square" lIns="91425" tIns="45700" rIns="91425" bIns="45700" anchor="t" anchorCtr="0">
            <a:noAutofit/>
          </a:bodyPr>
          <a:lstStyle/>
          <a:p>
            <a:pPr marL="0" lvl="0" indent="0" algn="just" rtl="0">
              <a:lnSpc>
                <a:spcPct val="150000"/>
              </a:lnSpc>
              <a:spcBef>
                <a:spcPts val="400"/>
              </a:spcBef>
              <a:spcAft>
                <a:spcPts val="0"/>
              </a:spcAft>
              <a:buSzPts val="1800"/>
              <a:buNone/>
            </a:pPr>
            <a:r>
              <a:rPr lang="en-US" sz="2000">
                <a:latin typeface="Times New Roman"/>
                <a:ea typeface="Times New Roman"/>
                <a:cs typeface="Times New Roman"/>
                <a:sym typeface="Times New Roman"/>
              </a:rPr>
              <a:t>Prostate cancer is one of the most prevalent cancers among men, and early detection significantly improves treatment outcomes. This project proposes a deep learning-based approach using MRI images to classify whether a patient is affected by prostate cancer. The system leverages convolutional neural networks (CNN) for feature extraction and classification. Data preprocessing steps include resizing, normalization, and augmentation to enhance model robustness. The proposed framework demonstrates potential in achieving high accuracy, validated through ROC, AUC, accuracy, and confusion matrix evaluation. The model is deployed with a simple Flask-based backend and an interactive web interface for uploading MRI scans and viewing predictions.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16"/>
          <p:cNvSpPr txBox="1">
            <a:spLocks noGrp="1"/>
          </p:cNvSpPr>
          <p:nvPr>
            <p:ph type="title"/>
          </p:nvPr>
        </p:nvSpPr>
        <p:spPr>
          <a:xfrm>
            <a:off x="381000" y="152400"/>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Times New Roman"/>
              <a:buNone/>
            </a:pPr>
            <a:r>
              <a:rPr lang="en-US">
                <a:latin typeface="Times New Roman"/>
                <a:ea typeface="Times New Roman"/>
                <a:cs typeface="Times New Roman"/>
                <a:sym typeface="Times New Roman"/>
              </a:rPr>
              <a:t>INTRODUCTION</a:t>
            </a:r>
            <a:endParaRPr/>
          </a:p>
        </p:txBody>
      </p:sp>
      <p:sp>
        <p:nvSpPr>
          <p:cNvPr id="111" name="Google Shape;111;p16"/>
          <p:cNvSpPr txBox="1">
            <a:spLocks noGrp="1"/>
          </p:cNvSpPr>
          <p:nvPr>
            <p:ph type="body" idx="1"/>
          </p:nvPr>
        </p:nvSpPr>
        <p:spPr>
          <a:xfrm>
            <a:off x="457200" y="1371600"/>
            <a:ext cx="8305800" cy="4800600"/>
          </a:xfrm>
          <a:prstGeom prst="rect">
            <a:avLst/>
          </a:prstGeom>
          <a:noFill/>
          <a:ln>
            <a:noFill/>
          </a:ln>
        </p:spPr>
        <p:txBody>
          <a:bodyPr spcFirstLastPara="1" wrap="square" lIns="91425" tIns="45700" rIns="91425" bIns="45700" anchor="t" anchorCtr="0">
            <a:noAutofit/>
          </a:bodyPr>
          <a:lstStyle/>
          <a:p>
            <a:pPr marL="457200" lvl="0" indent="-355600" algn="just" rtl="0">
              <a:lnSpc>
                <a:spcPct val="150000"/>
              </a:lnSpc>
              <a:spcBef>
                <a:spcPts val="480"/>
              </a:spcBef>
              <a:spcAft>
                <a:spcPts val="0"/>
              </a:spcAft>
              <a:buSzPts val="2000"/>
              <a:buFont typeface="Times New Roman"/>
              <a:buChar char="➢"/>
            </a:pPr>
            <a:r>
              <a:rPr lang="en-US" sz="2000">
                <a:latin typeface="Times New Roman"/>
                <a:ea typeface="Times New Roman"/>
                <a:cs typeface="Times New Roman"/>
                <a:sym typeface="Times New Roman"/>
              </a:rPr>
              <a:t>Prostate cancer accounts for a major portion of male cancer cases worldwide.</a:t>
            </a:r>
            <a:endParaRPr sz="2000">
              <a:latin typeface="Times New Roman"/>
              <a:ea typeface="Times New Roman"/>
              <a:cs typeface="Times New Roman"/>
              <a:sym typeface="Times New Roman"/>
            </a:endParaRPr>
          </a:p>
          <a:p>
            <a:pPr marL="457200" lvl="0" indent="-355600" algn="just" rtl="0">
              <a:lnSpc>
                <a:spcPct val="150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Traditional diagnosis methods such as biopsies and manual MRI examination are time-consuming and error-prone.</a:t>
            </a:r>
            <a:endParaRPr sz="2000">
              <a:latin typeface="Times New Roman"/>
              <a:ea typeface="Times New Roman"/>
              <a:cs typeface="Times New Roman"/>
              <a:sym typeface="Times New Roman"/>
            </a:endParaRPr>
          </a:p>
          <a:p>
            <a:pPr marL="457200" lvl="0" indent="-355600" algn="just" rtl="0">
              <a:lnSpc>
                <a:spcPct val="150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Deep learning techniques can automate detection by learning discriminative patterns from MRI scans.</a:t>
            </a:r>
            <a:endParaRPr sz="2000">
              <a:latin typeface="Times New Roman"/>
              <a:ea typeface="Times New Roman"/>
              <a:cs typeface="Times New Roman"/>
              <a:sym typeface="Times New Roman"/>
            </a:endParaRPr>
          </a:p>
          <a:p>
            <a:pPr marL="457200" lvl="0" indent="-355600" algn="just" rtl="0">
              <a:lnSpc>
                <a:spcPct val="150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This system integrates preprocessing, CNN-based classification, and web deployment for practical usability.</a:t>
            </a:r>
            <a:endParaRPr sz="2000">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17"/>
          <p:cNvSpPr txBox="1">
            <a:spLocks noGrp="1"/>
          </p:cNvSpPr>
          <p:nvPr>
            <p:ph type="title"/>
          </p:nvPr>
        </p:nvSpPr>
        <p:spPr>
          <a:xfrm>
            <a:off x="457200" y="0"/>
            <a:ext cx="8229600" cy="12954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Times New Roman"/>
              <a:buNone/>
            </a:pPr>
            <a:r>
              <a:rPr lang="en-US">
                <a:latin typeface="Times New Roman"/>
                <a:ea typeface="Times New Roman"/>
                <a:cs typeface="Times New Roman"/>
                <a:sym typeface="Times New Roman"/>
              </a:rPr>
              <a:t>LITERATURE SURVEY</a:t>
            </a:r>
            <a:endParaRPr/>
          </a:p>
        </p:txBody>
      </p:sp>
      <p:sp>
        <p:nvSpPr>
          <p:cNvPr id="117" name="Google Shape;117;p17"/>
          <p:cNvSpPr txBox="1">
            <a:spLocks noGrp="1"/>
          </p:cNvSpPr>
          <p:nvPr>
            <p:ph type="body" idx="1"/>
          </p:nvPr>
        </p:nvSpPr>
        <p:spPr>
          <a:xfrm>
            <a:off x="533400" y="1143000"/>
            <a:ext cx="8229600" cy="5257800"/>
          </a:xfrm>
          <a:prstGeom prst="rect">
            <a:avLst/>
          </a:prstGeom>
          <a:noFill/>
          <a:ln>
            <a:noFill/>
          </a:ln>
        </p:spPr>
        <p:txBody>
          <a:bodyPr spcFirstLastPara="1" wrap="square" lIns="91425" tIns="45700" rIns="91425" bIns="45700" anchor="t" anchorCtr="0">
            <a:noAutofit/>
          </a:bodyPr>
          <a:lstStyle/>
          <a:p>
            <a:pPr marL="342900" lvl="0" indent="-342900" algn="just" rtl="0">
              <a:lnSpc>
                <a:spcPct val="150000"/>
              </a:lnSpc>
              <a:spcBef>
                <a:spcPts val="0"/>
              </a:spcBef>
              <a:spcAft>
                <a:spcPts val="0"/>
              </a:spcAft>
              <a:buClr>
                <a:schemeClr val="dk1"/>
              </a:buClr>
              <a:buSzPts val="1600"/>
              <a:buChar char="•"/>
            </a:pPr>
            <a:r>
              <a:rPr lang="en-US" sz="1600">
                <a:latin typeface="Times New Roman"/>
                <a:ea typeface="Times New Roman"/>
                <a:cs typeface="Times New Roman"/>
                <a:sym typeface="Times New Roman"/>
              </a:rPr>
              <a:t>Litjens et al. (2017) - A survey on deep learning in medical image analysis"This work presents a comprehensive overview of deep learning applications in medical imaging. The authors emphasize the success of convolutional neural networks (CNNs) in tasks like lesion detection, segmentation, and classification. In the context of prostate cancer, CNNs have been applied to MRI and histopathology images, demonstrating improved accuracy and reduced need for manual annotation. This paper laid the groundwork for subsequent research by highlighting the potential of DL in cancer diagnosis.</a:t>
            </a:r>
            <a:endParaRPr/>
          </a:p>
          <a:p>
            <a:pPr marL="342900" lvl="0" indent="-342900" algn="just" rtl="0">
              <a:lnSpc>
                <a:spcPct val="150000"/>
              </a:lnSpc>
              <a:spcBef>
                <a:spcPts val="320"/>
              </a:spcBef>
              <a:spcAft>
                <a:spcPts val="0"/>
              </a:spcAft>
              <a:buClr>
                <a:schemeClr val="dk1"/>
              </a:buClr>
              <a:buSzPts val="1600"/>
              <a:buChar char="•"/>
            </a:pPr>
            <a:r>
              <a:rPr lang="en-US" sz="1600">
                <a:latin typeface="Times New Roman"/>
                <a:ea typeface="Times New Roman"/>
                <a:cs typeface="Times New Roman"/>
                <a:sym typeface="Times New Roman"/>
              </a:rPr>
              <a:t>Arif et al. (2020) - "Deep learning for classification of prostate cancer whole-slide histopathology images"Arif and colleagues developed a CNN-based model to classify prostate cancer grades from whole-slide histopathology images. They emphasized the importance of training on image patches to manage large image sizes. Their model achieved high classification accuracy and robustness, showcasing deep learning's ability to handle the complexity of histological data in prostate cancer diagnosis.</a:t>
            </a:r>
            <a:endParaRPr/>
          </a:p>
          <a:p>
            <a:pPr marL="342900" lvl="0" indent="-241300" algn="just" rtl="0">
              <a:lnSpc>
                <a:spcPct val="150000"/>
              </a:lnSpc>
              <a:spcBef>
                <a:spcPts val="320"/>
              </a:spcBef>
              <a:spcAft>
                <a:spcPts val="0"/>
              </a:spcAft>
              <a:buClr>
                <a:schemeClr val="dk1"/>
              </a:buClr>
              <a:buSzPts val="1600"/>
              <a:buNone/>
            </a:pPr>
            <a:endParaRPr sz="1600">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1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Times New Roman"/>
              <a:buNone/>
            </a:pPr>
            <a:r>
              <a:rPr lang="en-US">
                <a:latin typeface="Times New Roman"/>
                <a:ea typeface="Times New Roman"/>
                <a:cs typeface="Times New Roman"/>
                <a:sym typeface="Times New Roman"/>
              </a:rPr>
              <a:t>EXISTING</a:t>
            </a:r>
            <a:r>
              <a:rPr lang="en-US"/>
              <a:t> SYSTEM</a:t>
            </a:r>
            <a:endParaRPr/>
          </a:p>
        </p:txBody>
      </p:sp>
      <p:sp>
        <p:nvSpPr>
          <p:cNvPr id="123" name="Google Shape;123;p18"/>
          <p:cNvSpPr txBox="1">
            <a:spLocks noGrp="1"/>
          </p:cNvSpPr>
          <p:nvPr>
            <p:ph type="body" idx="1"/>
          </p:nvPr>
        </p:nvSpPr>
        <p:spPr>
          <a:xfrm>
            <a:off x="457200" y="1676400"/>
            <a:ext cx="8229600" cy="1785600"/>
          </a:xfrm>
          <a:prstGeom prst="rect">
            <a:avLst/>
          </a:prstGeom>
          <a:noFill/>
          <a:ln>
            <a:noFill/>
          </a:ln>
        </p:spPr>
        <p:txBody>
          <a:bodyPr spcFirstLastPara="1" wrap="square" lIns="91425" tIns="45700" rIns="91425" bIns="45700" anchor="ctr" anchorCtr="0">
            <a:spAutoFit/>
          </a:bodyPr>
          <a:lstStyle/>
          <a:p>
            <a:pPr marL="457200" lvl="0" indent="-355600" algn="just" rtl="0">
              <a:lnSpc>
                <a:spcPct val="150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Manual diagnosis based on radiologists’ interpretation of MRI scans.</a:t>
            </a:r>
            <a:endParaRPr sz="2000">
              <a:latin typeface="Times New Roman"/>
              <a:ea typeface="Times New Roman"/>
              <a:cs typeface="Times New Roman"/>
              <a:sym typeface="Times New Roman"/>
            </a:endParaRPr>
          </a:p>
          <a:p>
            <a:pPr marL="457200" lvl="0" indent="-355600" algn="just" rtl="0">
              <a:lnSpc>
                <a:spcPct val="150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Higher chances of human error due to image complexity.</a:t>
            </a:r>
            <a:endParaRPr sz="2000">
              <a:latin typeface="Times New Roman"/>
              <a:ea typeface="Times New Roman"/>
              <a:cs typeface="Times New Roman"/>
              <a:sym typeface="Times New Roman"/>
            </a:endParaRPr>
          </a:p>
          <a:p>
            <a:pPr marL="457200" lvl="0" indent="-355600" algn="just" rtl="0">
              <a:lnSpc>
                <a:spcPct val="150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Traditional machine learning models require handcrafted features.</a:t>
            </a:r>
            <a:endParaRPr sz="2000">
              <a:latin typeface="Times New Roman"/>
              <a:ea typeface="Times New Roman"/>
              <a:cs typeface="Times New Roman"/>
              <a:sym typeface="Times New Roman"/>
            </a:endParaRPr>
          </a:p>
          <a:p>
            <a:pPr marL="457200" lvl="0" indent="-355600" algn="just" rtl="0">
              <a:lnSpc>
                <a:spcPct val="150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Lack of real-time user-friendly platforms for prediction.</a:t>
            </a:r>
            <a:endParaRPr sz="2000">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1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Times New Roman"/>
              <a:buNone/>
            </a:pPr>
            <a:r>
              <a:rPr lang="en-US">
                <a:latin typeface="Times New Roman"/>
                <a:ea typeface="Times New Roman"/>
                <a:cs typeface="Times New Roman"/>
                <a:sym typeface="Times New Roman"/>
              </a:rPr>
              <a:t>PROPOSED</a:t>
            </a:r>
            <a:r>
              <a:rPr lang="en-US"/>
              <a:t> SYSTEM</a:t>
            </a:r>
            <a:endParaRPr/>
          </a:p>
        </p:txBody>
      </p:sp>
      <p:sp>
        <p:nvSpPr>
          <p:cNvPr id="129" name="Google Shape;129;p19"/>
          <p:cNvSpPr txBox="1">
            <a:spLocks noGrp="1"/>
          </p:cNvSpPr>
          <p:nvPr>
            <p:ph type="body" idx="1"/>
          </p:nvPr>
        </p:nvSpPr>
        <p:spPr>
          <a:xfrm>
            <a:off x="457200" y="1417650"/>
            <a:ext cx="8229600" cy="5621400"/>
          </a:xfrm>
          <a:prstGeom prst="rect">
            <a:avLst/>
          </a:prstGeom>
          <a:noFill/>
          <a:ln>
            <a:noFill/>
          </a:ln>
        </p:spPr>
        <p:txBody>
          <a:bodyPr spcFirstLastPara="1" wrap="square" lIns="91425" tIns="45700" rIns="91425" bIns="45700" anchor="ctr" anchorCtr="0">
            <a:spAutoFit/>
          </a:bodyPr>
          <a:lstStyle/>
          <a:p>
            <a:pPr marL="0" lvl="0" indent="0" algn="just" rtl="0">
              <a:lnSpc>
                <a:spcPct val="115000"/>
              </a:lnSpc>
              <a:spcBef>
                <a:spcPts val="1200"/>
              </a:spcBef>
              <a:spcAft>
                <a:spcPts val="0"/>
              </a:spcAft>
              <a:buNone/>
            </a:pPr>
            <a:r>
              <a:rPr lang="en-US" sz="1800">
                <a:latin typeface="Times New Roman"/>
                <a:ea typeface="Times New Roman"/>
                <a:cs typeface="Times New Roman"/>
                <a:sym typeface="Times New Roman"/>
              </a:rPr>
              <a:t>At this stage, the system leverages </a:t>
            </a:r>
            <a:r>
              <a:rPr lang="en-US" sz="1800" b="1">
                <a:latin typeface="Times New Roman"/>
                <a:ea typeface="Times New Roman"/>
                <a:cs typeface="Times New Roman"/>
                <a:sym typeface="Times New Roman"/>
              </a:rPr>
              <a:t>Transfer Learning</a:t>
            </a:r>
            <a:r>
              <a:rPr lang="en-US" sz="1800">
                <a:latin typeface="Times New Roman"/>
                <a:ea typeface="Times New Roman"/>
                <a:cs typeface="Times New Roman"/>
                <a:sym typeface="Times New Roman"/>
              </a:rPr>
              <a:t> to overcome the limitations of a basic CNN. Pre-trained models such as </a:t>
            </a:r>
            <a:r>
              <a:rPr lang="en-US" sz="1800" b="1">
                <a:latin typeface="Times New Roman"/>
                <a:ea typeface="Times New Roman"/>
                <a:cs typeface="Times New Roman"/>
                <a:sym typeface="Times New Roman"/>
              </a:rPr>
              <a:t>ResNet50, VGG16, or InceptionV3</a:t>
            </a:r>
            <a:r>
              <a:rPr lang="en-US" sz="1800">
                <a:latin typeface="Times New Roman"/>
                <a:ea typeface="Times New Roman"/>
                <a:cs typeface="Times New Roman"/>
                <a:sym typeface="Times New Roman"/>
              </a:rPr>
              <a:t>, trained on large-scale datasets like ImageNet, are repurposed for prostate MRI classification. This approach significantly improves accuracy, efficiency, and generalization.</a:t>
            </a:r>
            <a:endParaRPr sz="1800">
              <a:latin typeface="Times New Roman"/>
              <a:ea typeface="Times New Roman"/>
              <a:cs typeface="Times New Roman"/>
              <a:sym typeface="Times New Roman"/>
            </a:endParaRPr>
          </a:p>
          <a:p>
            <a:pPr marL="457200" lvl="0" indent="-342900" algn="just" rtl="0">
              <a:lnSpc>
                <a:spcPct val="115000"/>
              </a:lnSpc>
              <a:spcBef>
                <a:spcPts val="1200"/>
              </a:spcBef>
              <a:spcAft>
                <a:spcPts val="0"/>
              </a:spcAft>
              <a:buSzPts val="1800"/>
              <a:buFont typeface="Times New Roman"/>
              <a:buAutoNum type="arabicPeriod"/>
            </a:pPr>
            <a:r>
              <a:rPr lang="en-US" sz="1800" b="1">
                <a:latin typeface="Times New Roman"/>
                <a:ea typeface="Times New Roman"/>
                <a:cs typeface="Times New Roman"/>
                <a:sym typeface="Times New Roman"/>
              </a:rPr>
              <a:t>Model</a:t>
            </a:r>
            <a:r>
              <a:rPr lang="en-US" sz="1800">
                <a:latin typeface="Times New Roman"/>
                <a:ea typeface="Times New Roman"/>
                <a:cs typeface="Times New Roman"/>
                <a:sym typeface="Times New Roman"/>
              </a:rPr>
              <a:t>: Instead of training from scratch, the framework employs a </a:t>
            </a:r>
            <a:r>
              <a:rPr lang="en-US" sz="1800" b="1">
                <a:latin typeface="Times New Roman"/>
                <a:ea typeface="Times New Roman"/>
                <a:cs typeface="Times New Roman"/>
                <a:sym typeface="Times New Roman"/>
              </a:rPr>
              <a:t>Transfer Learning backbone</a:t>
            </a:r>
            <a:r>
              <a:rPr lang="en-US" sz="1800">
                <a:latin typeface="Times New Roman"/>
                <a:ea typeface="Times New Roman"/>
                <a:cs typeface="Times New Roman"/>
                <a:sym typeface="Times New Roman"/>
              </a:rPr>
              <a:t> (ResNet50, VGG16, or InceptionV3). These architectures provide robust, pre-learned feature extractors capable of identifying complex spatial patterns in MRI scans.</a:t>
            </a:r>
            <a:endParaRPr sz="1800">
              <a:latin typeface="Times New Roman"/>
              <a:ea typeface="Times New Roman"/>
              <a:cs typeface="Times New Roman"/>
              <a:sym typeface="Times New Roman"/>
            </a:endParaRPr>
          </a:p>
          <a:p>
            <a:pPr marL="457200" lvl="0" indent="-342900" algn="just" rtl="0">
              <a:lnSpc>
                <a:spcPct val="115000"/>
              </a:lnSpc>
              <a:spcBef>
                <a:spcPts val="0"/>
              </a:spcBef>
              <a:spcAft>
                <a:spcPts val="0"/>
              </a:spcAft>
              <a:buSzPts val="1800"/>
              <a:buFont typeface="Times New Roman"/>
              <a:buAutoNum type="arabicPeriod"/>
            </a:pPr>
            <a:r>
              <a:rPr lang="en-US" sz="1800" b="1">
                <a:latin typeface="Times New Roman"/>
                <a:ea typeface="Times New Roman"/>
                <a:cs typeface="Times New Roman"/>
                <a:sym typeface="Times New Roman"/>
              </a:rPr>
              <a:t>Preprocessing</a:t>
            </a:r>
            <a:r>
              <a:rPr lang="en-US" sz="1800">
                <a:latin typeface="Times New Roman"/>
                <a:ea typeface="Times New Roman"/>
                <a:cs typeface="Times New Roman"/>
                <a:sym typeface="Times New Roman"/>
              </a:rPr>
              <a:t>: In addition to resizing and normalization, </a:t>
            </a:r>
            <a:r>
              <a:rPr lang="en-US" sz="1800" b="1">
                <a:latin typeface="Times New Roman"/>
                <a:ea typeface="Times New Roman"/>
                <a:cs typeface="Times New Roman"/>
                <a:sym typeface="Times New Roman"/>
              </a:rPr>
              <a:t>data augmentation techniques</a:t>
            </a:r>
            <a:r>
              <a:rPr lang="en-US" sz="1800">
                <a:latin typeface="Times New Roman"/>
                <a:ea typeface="Times New Roman"/>
                <a:cs typeface="Times New Roman"/>
                <a:sym typeface="Times New Roman"/>
              </a:rPr>
              <a:t> such as rotation, flipping, scaling, and contrast adjustment are applied. These steps increase dataset diversity, reduce overfitting, and enable the model to generalize better to unseen MRI scans.</a:t>
            </a:r>
            <a:endParaRPr sz="1800">
              <a:latin typeface="Times New Roman"/>
              <a:ea typeface="Times New Roman"/>
              <a:cs typeface="Times New Roman"/>
              <a:sym typeface="Times New Roman"/>
            </a:endParaRPr>
          </a:p>
          <a:p>
            <a:pPr marL="457200" lvl="0" indent="-342900" algn="just" rtl="0">
              <a:lnSpc>
                <a:spcPct val="115000"/>
              </a:lnSpc>
              <a:spcBef>
                <a:spcPts val="0"/>
              </a:spcBef>
              <a:spcAft>
                <a:spcPts val="0"/>
              </a:spcAft>
              <a:buSzPts val="1800"/>
              <a:buFont typeface="Times New Roman"/>
              <a:buAutoNum type="arabicPeriod"/>
            </a:pPr>
            <a:r>
              <a:rPr lang="en-US" sz="1800" b="1">
                <a:latin typeface="Times New Roman"/>
                <a:ea typeface="Times New Roman"/>
                <a:cs typeface="Times New Roman"/>
                <a:sym typeface="Times New Roman"/>
              </a:rPr>
              <a:t>Training</a:t>
            </a:r>
            <a:r>
              <a:rPr lang="en-US" sz="1800">
                <a:latin typeface="Times New Roman"/>
                <a:ea typeface="Times New Roman"/>
                <a:cs typeface="Times New Roman"/>
                <a:sym typeface="Times New Roman"/>
              </a:rPr>
              <a:t>: The </a:t>
            </a:r>
            <a:r>
              <a:rPr lang="en-US" sz="1800" b="1">
                <a:latin typeface="Times New Roman"/>
                <a:ea typeface="Times New Roman"/>
                <a:cs typeface="Times New Roman"/>
                <a:sym typeface="Times New Roman"/>
              </a:rPr>
              <a:t>lower layers of the pre-trained model are frozen</a:t>
            </a:r>
            <a:r>
              <a:rPr lang="en-US" sz="1800">
                <a:latin typeface="Times New Roman"/>
                <a:ea typeface="Times New Roman"/>
                <a:cs typeface="Times New Roman"/>
                <a:sym typeface="Times New Roman"/>
              </a:rPr>
              <a:t>, preserving generic visual features, while </a:t>
            </a:r>
            <a:r>
              <a:rPr lang="en-US" sz="1800" b="1">
                <a:latin typeface="Times New Roman"/>
                <a:ea typeface="Times New Roman"/>
                <a:cs typeface="Times New Roman"/>
                <a:sym typeface="Times New Roman"/>
              </a:rPr>
              <a:t>upper layers are fine-tuned</a:t>
            </a:r>
            <a:r>
              <a:rPr lang="en-US" sz="1800">
                <a:latin typeface="Times New Roman"/>
                <a:ea typeface="Times New Roman"/>
                <a:cs typeface="Times New Roman"/>
                <a:sym typeface="Times New Roman"/>
              </a:rPr>
              <a:t> with prostate-specific data. This balance allows the model to adapt to domain-specific features while maintaining efficiency. Gradient descent optimization and regularization are applied to ensure convergence.</a:t>
            </a:r>
            <a:endParaRPr sz="1800">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2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Times New Roman"/>
              <a:buNone/>
            </a:pPr>
            <a:r>
              <a:rPr lang="en-US">
                <a:latin typeface="Times New Roman"/>
                <a:ea typeface="Times New Roman"/>
                <a:cs typeface="Times New Roman"/>
                <a:sym typeface="Times New Roman"/>
              </a:rPr>
              <a:t>PROPOSED</a:t>
            </a:r>
            <a:r>
              <a:rPr lang="en-US"/>
              <a:t> SYSTEM</a:t>
            </a:r>
            <a:endParaRPr/>
          </a:p>
        </p:txBody>
      </p:sp>
      <p:sp>
        <p:nvSpPr>
          <p:cNvPr id="135" name="Google Shape;135;p20"/>
          <p:cNvSpPr txBox="1">
            <a:spLocks noGrp="1"/>
          </p:cNvSpPr>
          <p:nvPr>
            <p:ph type="body" idx="1"/>
          </p:nvPr>
        </p:nvSpPr>
        <p:spPr>
          <a:xfrm>
            <a:off x="457200" y="1417650"/>
            <a:ext cx="8229600" cy="3863400"/>
          </a:xfrm>
          <a:prstGeom prst="rect">
            <a:avLst/>
          </a:prstGeom>
          <a:noFill/>
          <a:ln>
            <a:noFill/>
          </a:ln>
        </p:spPr>
        <p:txBody>
          <a:bodyPr spcFirstLastPara="1" wrap="square" lIns="91425" tIns="45700" rIns="91425" bIns="45700" anchor="ctr" anchorCtr="0">
            <a:spAutoFit/>
          </a:bodyPr>
          <a:lstStyle/>
          <a:p>
            <a:pPr marL="0" lvl="0" indent="0" algn="just" rtl="0">
              <a:lnSpc>
                <a:spcPct val="115000"/>
              </a:lnSpc>
              <a:spcBef>
                <a:spcPts val="1200"/>
              </a:spcBef>
              <a:spcAft>
                <a:spcPts val="0"/>
              </a:spcAft>
              <a:buNone/>
            </a:pPr>
            <a:r>
              <a:rPr lang="en-US" sz="1800" b="1">
                <a:latin typeface="Times New Roman"/>
                <a:ea typeface="Times New Roman"/>
                <a:cs typeface="Times New Roman"/>
                <a:sym typeface="Times New Roman"/>
              </a:rPr>
              <a:t>4. Evaluation</a:t>
            </a:r>
            <a:r>
              <a:rPr lang="en-US" sz="1800">
                <a:latin typeface="Times New Roman"/>
                <a:ea typeface="Times New Roman"/>
                <a:cs typeface="Times New Roman"/>
                <a:sym typeface="Times New Roman"/>
              </a:rPr>
              <a:t>: Model performance is evaluated using </a:t>
            </a:r>
            <a:r>
              <a:rPr lang="en-US" sz="1800" b="1">
                <a:latin typeface="Times New Roman"/>
                <a:ea typeface="Times New Roman"/>
                <a:cs typeface="Times New Roman"/>
                <a:sym typeface="Times New Roman"/>
              </a:rPr>
              <a:t>expanded metrics</a:t>
            </a:r>
            <a:r>
              <a:rPr lang="en-US" sz="1800">
                <a:latin typeface="Times New Roman"/>
                <a:ea typeface="Times New Roman"/>
                <a:cs typeface="Times New Roman"/>
                <a:sym typeface="Times New Roman"/>
              </a:rPr>
              <a:t>:</a:t>
            </a:r>
            <a:endParaRPr sz="1800">
              <a:latin typeface="Times New Roman"/>
              <a:ea typeface="Times New Roman"/>
              <a:cs typeface="Times New Roman"/>
              <a:sym typeface="Times New Roman"/>
            </a:endParaRPr>
          </a:p>
          <a:p>
            <a:pPr marL="457200" lvl="0" indent="-342900" algn="just" rtl="0">
              <a:lnSpc>
                <a:spcPct val="115000"/>
              </a:lnSpc>
              <a:spcBef>
                <a:spcPts val="1200"/>
              </a:spcBef>
              <a:spcAft>
                <a:spcPts val="0"/>
              </a:spcAft>
              <a:buSzPts val="1800"/>
              <a:buChar char="●"/>
            </a:pPr>
            <a:r>
              <a:rPr lang="en-US" sz="1800" b="1">
                <a:latin typeface="Times New Roman"/>
                <a:ea typeface="Times New Roman"/>
                <a:cs typeface="Times New Roman"/>
                <a:sym typeface="Times New Roman"/>
              </a:rPr>
              <a:t>Accuracy</a:t>
            </a:r>
            <a:r>
              <a:rPr lang="en-US" sz="1800">
                <a:latin typeface="Times New Roman"/>
                <a:ea typeface="Times New Roman"/>
                <a:cs typeface="Times New Roman"/>
                <a:sym typeface="Times New Roman"/>
              </a:rPr>
              <a:t>: Overall correctness of predictions.</a:t>
            </a:r>
            <a:endParaRPr sz="1800">
              <a:latin typeface="Times New Roman"/>
              <a:ea typeface="Times New Roman"/>
              <a:cs typeface="Times New Roman"/>
              <a:sym typeface="Times New Roman"/>
            </a:endParaRPr>
          </a:p>
          <a:p>
            <a:pPr marL="457200" lvl="0" indent="-342900" algn="just" rtl="0">
              <a:lnSpc>
                <a:spcPct val="115000"/>
              </a:lnSpc>
              <a:spcBef>
                <a:spcPts val="0"/>
              </a:spcBef>
              <a:spcAft>
                <a:spcPts val="0"/>
              </a:spcAft>
              <a:buSzPts val="1800"/>
              <a:buChar char="●"/>
            </a:pPr>
            <a:r>
              <a:rPr lang="en-US" sz="1800" b="1">
                <a:latin typeface="Times New Roman"/>
                <a:ea typeface="Times New Roman"/>
                <a:cs typeface="Times New Roman"/>
                <a:sym typeface="Times New Roman"/>
              </a:rPr>
              <a:t>Precision</a:t>
            </a:r>
            <a:r>
              <a:rPr lang="en-US" sz="1800">
                <a:latin typeface="Times New Roman"/>
                <a:ea typeface="Times New Roman"/>
                <a:cs typeface="Times New Roman"/>
                <a:sym typeface="Times New Roman"/>
              </a:rPr>
              <a:t>: Reliability of positive cancer predictions.</a:t>
            </a:r>
            <a:endParaRPr sz="1800">
              <a:latin typeface="Times New Roman"/>
              <a:ea typeface="Times New Roman"/>
              <a:cs typeface="Times New Roman"/>
              <a:sym typeface="Times New Roman"/>
            </a:endParaRPr>
          </a:p>
          <a:p>
            <a:pPr marL="457200" lvl="0" indent="-342900" algn="just" rtl="0">
              <a:lnSpc>
                <a:spcPct val="115000"/>
              </a:lnSpc>
              <a:spcBef>
                <a:spcPts val="0"/>
              </a:spcBef>
              <a:spcAft>
                <a:spcPts val="0"/>
              </a:spcAft>
              <a:buSzPts val="1800"/>
              <a:buChar char="●"/>
            </a:pPr>
            <a:r>
              <a:rPr lang="en-US" sz="1800" b="1">
                <a:latin typeface="Times New Roman"/>
                <a:ea typeface="Times New Roman"/>
                <a:cs typeface="Times New Roman"/>
                <a:sym typeface="Times New Roman"/>
              </a:rPr>
              <a:t>Recall (Sensitivity)</a:t>
            </a:r>
            <a:r>
              <a:rPr lang="en-US" sz="1800">
                <a:latin typeface="Times New Roman"/>
                <a:ea typeface="Times New Roman"/>
                <a:cs typeface="Times New Roman"/>
                <a:sym typeface="Times New Roman"/>
              </a:rPr>
              <a:t>: Ability to detect actual cancer cases.</a:t>
            </a:r>
            <a:endParaRPr sz="1800">
              <a:latin typeface="Times New Roman"/>
              <a:ea typeface="Times New Roman"/>
              <a:cs typeface="Times New Roman"/>
              <a:sym typeface="Times New Roman"/>
            </a:endParaRPr>
          </a:p>
          <a:p>
            <a:pPr marL="457200" lvl="0" indent="-342900" algn="just" rtl="0">
              <a:lnSpc>
                <a:spcPct val="115000"/>
              </a:lnSpc>
              <a:spcBef>
                <a:spcPts val="0"/>
              </a:spcBef>
              <a:spcAft>
                <a:spcPts val="0"/>
              </a:spcAft>
              <a:buSzPts val="1800"/>
              <a:buChar char="●"/>
            </a:pPr>
            <a:r>
              <a:rPr lang="en-US" sz="1800" b="1">
                <a:latin typeface="Times New Roman"/>
                <a:ea typeface="Times New Roman"/>
                <a:cs typeface="Times New Roman"/>
                <a:sym typeface="Times New Roman"/>
              </a:rPr>
              <a:t>F1-score</a:t>
            </a:r>
            <a:r>
              <a:rPr lang="en-US" sz="1800">
                <a:latin typeface="Times New Roman"/>
                <a:ea typeface="Times New Roman"/>
                <a:cs typeface="Times New Roman"/>
                <a:sym typeface="Times New Roman"/>
              </a:rPr>
              <a:t>: Balanced measure combining precision and recall.</a:t>
            </a:r>
            <a:br>
              <a:rPr lang="en-US" sz="1800">
                <a:latin typeface="Times New Roman"/>
                <a:ea typeface="Times New Roman"/>
                <a:cs typeface="Times New Roman"/>
                <a:sym typeface="Times New Roman"/>
              </a:rPr>
            </a:br>
            <a:r>
              <a:rPr lang="en-US" sz="1800">
                <a:latin typeface="Times New Roman"/>
                <a:ea typeface="Times New Roman"/>
                <a:cs typeface="Times New Roman"/>
                <a:sym typeface="Times New Roman"/>
              </a:rPr>
              <a:t> These metrics provide a more comprehensive view of model performance compared to the baseline CNN, which relied primarily on accuracy.</a:t>
            </a:r>
            <a:endParaRPr sz="1800">
              <a:latin typeface="Times New Roman"/>
              <a:ea typeface="Times New Roman"/>
              <a:cs typeface="Times New Roman"/>
              <a:sym typeface="Times New Roman"/>
            </a:endParaRPr>
          </a:p>
          <a:p>
            <a:pPr marL="0" lvl="0" indent="0" algn="just" rtl="0">
              <a:lnSpc>
                <a:spcPct val="115000"/>
              </a:lnSpc>
              <a:spcBef>
                <a:spcPts val="1200"/>
              </a:spcBef>
              <a:spcAft>
                <a:spcPts val="0"/>
              </a:spcAft>
              <a:buNone/>
            </a:pPr>
            <a:r>
              <a:rPr lang="en-US" sz="1800" b="1">
                <a:latin typeface="Times New Roman"/>
                <a:ea typeface="Times New Roman"/>
                <a:cs typeface="Times New Roman"/>
                <a:sym typeface="Times New Roman"/>
              </a:rPr>
              <a:t>Limitation</a:t>
            </a:r>
            <a:r>
              <a:rPr lang="en-US" sz="1800">
                <a:latin typeface="Times New Roman"/>
                <a:ea typeface="Times New Roman"/>
                <a:cs typeface="Times New Roman"/>
                <a:sym typeface="Times New Roman"/>
              </a:rPr>
              <a:t>: While Transfer Learning delivers </a:t>
            </a:r>
            <a:r>
              <a:rPr lang="en-US" sz="1800" b="1">
                <a:latin typeface="Times New Roman"/>
                <a:ea typeface="Times New Roman"/>
                <a:cs typeface="Times New Roman"/>
                <a:sym typeface="Times New Roman"/>
              </a:rPr>
              <a:t>higher accuracy and robustness</a:t>
            </a:r>
            <a:r>
              <a:rPr lang="en-US" sz="1800">
                <a:latin typeface="Times New Roman"/>
                <a:ea typeface="Times New Roman"/>
                <a:cs typeface="Times New Roman"/>
                <a:sym typeface="Times New Roman"/>
              </a:rPr>
              <a:t> than the baseline model, the system still performs </a:t>
            </a:r>
            <a:r>
              <a:rPr lang="en-US" sz="1800" b="1">
                <a:latin typeface="Times New Roman"/>
                <a:ea typeface="Times New Roman"/>
                <a:cs typeface="Times New Roman"/>
                <a:sym typeface="Times New Roman"/>
              </a:rPr>
              <a:t>binary classification only</a:t>
            </a:r>
            <a:r>
              <a:rPr lang="en-US" sz="1800">
                <a:latin typeface="Times New Roman"/>
                <a:ea typeface="Times New Roman"/>
                <a:cs typeface="Times New Roman"/>
                <a:sym typeface="Times New Roman"/>
              </a:rPr>
              <a:t>. It does not provide tumor localization or severity analysis, which are critical for treatment planning</a:t>
            </a:r>
            <a:endParaRPr sz="1800">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Times New Roman"/>
              <a:buNone/>
            </a:pPr>
            <a:r>
              <a:rPr lang="en-US">
                <a:latin typeface="Times New Roman"/>
                <a:ea typeface="Times New Roman"/>
                <a:cs typeface="Times New Roman"/>
                <a:sym typeface="Times New Roman"/>
              </a:rPr>
              <a:t> PROPOSED SYSTEM</a:t>
            </a:r>
            <a:endParaRPr/>
          </a:p>
        </p:txBody>
      </p:sp>
      <p:pic>
        <p:nvPicPr>
          <p:cNvPr id="141" name="Google Shape;141;p21"/>
          <p:cNvPicPr preferRelativeResize="0"/>
          <p:nvPr/>
        </p:nvPicPr>
        <p:blipFill>
          <a:blip r:embed="rId3">
            <a:alphaModFix/>
          </a:blip>
          <a:stretch>
            <a:fillRect/>
          </a:stretch>
        </p:blipFill>
        <p:spPr>
          <a:xfrm>
            <a:off x="3124675" y="1417638"/>
            <a:ext cx="2373686" cy="5135562"/>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2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a:t>BLOCK DIAGRAM</a:t>
            </a:r>
            <a:endParaRPr/>
          </a:p>
        </p:txBody>
      </p:sp>
      <p:sp>
        <p:nvSpPr>
          <p:cNvPr id="147" name="Google Shape;147;p22"/>
          <p:cNvSpPr txBox="1">
            <a:spLocks noGrp="1"/>
          </p:cNvSpPr>
          <p:nvPr>
            <p:ph type="body" idx="1"/>
          </p:nvPr>
        </p:nvSpPr>
        <p:spPr>
          <a:xfrm>
            <a:off x="304800" y="1352103"/>
            <a:ext cx="3975600" cy="4931700"/>
          </a:xfrm>
          <a:prstGeom prst="rect">
            <a:avLst/>
          </a:prstGeom>
          <a:noFill/>
          <a:ln>
            <a:noFill/>
          </a:ln>
        </p:spPr>
        <p:txBody>
          <a:bodyPr spcFirstLastPara="1" wrap="square" lIns="91425" tIns="45700" rIns="91425" bIns="45700" anchor="t" anchorCtr="0">
            <a:noAutofit/>
          </a:bodyPr>
          <a:lstStyle/>
          <a:p>
            <a:pPr marL="0" lvl="0" indent="0" algn="just" rtl="0">
              <a:lnSpc>
                <a:spcPct val="115000"/>
              </a:lnSpc>
              <a:spcBef>
                <a:spcPts val="1200"/>
              </a:spcBef>
              <a:spcAft>
                <a:spcPts val="0"/>
              </a:spcAft>
              <a:buClr>
                <a:schemeClr val="dk1"/>
              </a:buClr>
              <a:buSzPts val="1100"/>
              <a:buFont typeface="Arial"/>
              <a:buNone/>
            </a:pPr>
            <a:r>
              <a:rPr lang="en-US" sz="1200">
                <a:latin typeface="Times New Roman"/>
                <a:ea typeface="Times New Roman"/>
                <a:cs typeface="Times New Roman"/>
                <a:sym typeface="Times New Roman"/>
              </a:rPr>
              <a:t>The architecture begins with the </a:t>
            </a:r>
            <a:r>
              <a:rPr lang="en-US" sz="1200" b="1">
                <a:latin typeface="Times New Roman"/>
                <a:ea typeface="Times New Roman"/>
                <a:cs typeface="Times New Roman"/>
                <a:sym typeface="Times New Roman"/>
              </a:rPr>
              <a:t>Radiologist/User</a:t>
            </a:r>
            <a:r>
              <a:rPr lang="en-US" sz="1200">
                <a:latin typeface="Times New Roman"/>
                <a:ea typeface="Times New Roman"/>
                <a:cs typeface="Times New Roman"/>
                <a:sym typeface="Times New Roman"/>
              </a:rPr>
              <a:t>, who uploads prostate MRI scans via a </a:t>
            </a:r>
            <a:r>
              <a:rPr lang="en-US" sz="1200" b="1">
                <a:latin typeface="Times New Roman"/>
                <a:ea typeface="Times New Roman"/>
                <a:cs typeface="Times New Roman"/>
                <a:sym typeface="Times New Roman"/>
              </a:rPr>
              <a:t>Web UI or API</a:t>
            </a:r>
            <a:r>
              <a:rPr lang="en-US" sz="1200">
                <a:latin typeface="Times New Roman"/>
                <a:ea typeface="Times New Roman"/>
                <a:cs typeface="Times New Roman"/>
                <a:sym typeface="Times New Roman"/>
              </a:rPr>
              <a:t>. The </a:t>
            </a:r>
            <a:r>
              <a:rPr lang="en-US" sz="1200" b="1">
                <a:latin typeface="Times New Roman"/>
                <a:ea typeface="Times New Roman"/>
                <a:cs typeface="Times New Roman"/>
                <a:sym typeface="Times New Roman"/>
              </a:rPr>
              <a:t>Ingestion Service</a:t>
            </a:r>
            <a:r>
              <a:rPr lang="en-US" sz="1200">
                <a:latin typeface="Times New Roman"/>
                <a:ea typeface="Times New Roman"/>
                <a:cs typeface="Times New Roman"/>
                <a:sym typeface="Times New Roman"/>
              </a:rPr>
              <a:t> handles file validation and supports medical imaging formats such as DICOM. The data is then passed to a </a:t>
            </a:r>
            <a:r>
              <a:rPr lang="en-US" sz="1200" b="1">
                <a:latin typeface="Times New Roman"/>
                <a:ea typeface="Times New Roman"/>
                <a:cs typeface="Times New Roman"/>
                <a:sym typeface="Times New Roman"/>
              </a:rPr>
              <a:t>Preprocessing Service</a:t>
            </a:r>
            <a:r>
              <a:rPr lang="en-US" sz="1200">
                <a:latin typeface="Times New Roman"/>
                <a:ea typeface="Times New Roman"/>
                <a:cs typeface="Times New Roman"/>
                <a:sym typeface="Times New Roman"/>
              </a:rPr>
              <a:t>, where resizing, normalization, and augmentation are applied to enhance model generalization.</a:t>
            </a:r>
            <a:endParaRPr sz="1200">
              <a:latin typeface="Times New Roman"/>
              <a:ea typeface="Times New Roman"/>
              <a:cs typeface="Times New Roman"/>
              <a:sym typeface="Times New Roman"/>
            </a:endParaRPr>
          </a:p>
          <a:p>
            <a:pPr marL="0" lvl="0" indent="0" algn="just" rtl="0">
              <a:lnSpc>
                <a:spcPct val="115000"/>
              </a:lnSpc>
              <a:spcBef>
                <a:spcPts val="1200"/>
              </a:spcBef>
              <a:spcAft>
                <a:spcPts val="0"/>
              </a:spcAft>
              <a:buClr>
                <a:schemeClr val="dk1"/>
              </a:buClr>
              <a:buSzPts val="1100"/>
              <a:buFont typeface="Arial"/>
              <a:buNone/>
            </a:pPr>
            <a:r>
              <a:rPr lang="en-US" sz="1200">
                <a:latin typeface="Times New Roman"/>
                <a:ea typeface="Times New Roman"/>
                <a:cs typeface="Times New Roman"/>
                <a:sym typeface="Times New Roman"/>
              </a:rPr>
              <a:t>Next, the scans are analyzed by the </a:t>
            </a:r>
            <a:r>
              <a:rPr lang="en-US" sz="1200" b="1">
                <a:latin typeface="Times New Roman"/>
                <a:ea typeface="Times New Roman"/>
                <a:cs typeface="Times New Roman"/>
                <a:sym typeface="Times New Roman"/>
              </a:rPr>
              <a:t>Model Service</a:t>
            </a:r>
            <a:r>
              <a:rPr lang="en-US" sz="1200">
                <a:latin typeface="Times New Roman"/>
                <a:ea typeface="Times New Roman"/>
                <a:cs typeface="Times New Roman"/>
                <a:sym typeface="Times New Roman"/>
              </a:rPr>
              <a:t>, which integrates a </a:t>
            </a:r>
            <a:r>
              <a:rPr lang="en-US" sz="1200" b="1">
                <a:latin typeface="Times New Roman"/>
                <a:ea typeface="Times New Roman"/>
                <a:cs typeface="Times New Roman"/>
                <a:sym typeface="Times New Roman"/>
              </a:rPr>
              <a:t>pre-trained backbone (ResNet50, VGG16, or InceptionV3)</a:t>
            </a:r>
            <a:r>
              <a:rPr lang="en-US" sz="1200">
                <a:latin typeface="Times New Roman"/>
                <a:ea typeface="Times New Roman"/>
                <a:cs typeface="Times New Roman"/>
                <a:sym typeface="Times New Roman"/>
              </a:rPr>
              <a:t> with a custom classifier. Lower layers remain frozen, while upper layers are fine-tuned for prostate-specific feature learning.</a:t>
            </a:r>
            <a:endParaRPr sz="1200">
              <a:latin typeface="Times New Roman"/>
              <a:ea typeface="Times New Roman"/>
              <a:cs typeface="Times New Roman"/>
              <a:sym typeface="Times New Roman"/>
            </a:endParaRPr>
          </a:p>
          <a:p>
            <a:pPr marL="0" lvl="0" indent="0" algn="just" rtl="0">
              <a:lnSpc>
                <a:spcPct val="115000"/>
              </a:lnSpc>
              <a:spcBef>
                <a:spcPts val="1200"/>
              </a:spcBef>
              <a:spcAft>
                <a:spcPts val="0"/>
              </a:spcAft>
              <a:buClr>
                <a:schemeClr val="dk1"/>
              </a:buClr>
              <a:buSzPts val="1100"/>
              <a:buFont typeface="Arial"/>
              <a:buNone/>
            </a:pPr>
            <a:r>
              <a:rPr lang="en-US" sz="1200">
                <a:latin typeface="Times New Roman"/>
                <a:ea typeface="Times New Roman"/>
                <a:cs typeface="Times New Roman"/>
                <a:sym typeface="Times New Roman"/>
              </a:rPr>
              <a:t>Predictions are evaluated in the </a:t>
            </a:r>
            <a:r>
              <a:rPr lang="en-US" sz="1200" b="1">
                <a:latin typeface="Times New Roman"/>
                <a:ea typeface="Times New Roman"/>
                <a:cs typeface="Times New Roman"/>
                <a:sym typeface="Times New Roman"/>
              </a:rPr>
              <a:t>Evaluation Module</a:t>
            </a:r>
            <a:r>
              <a:rPr lang="en-US" sz="1200">
                <a:latin typeface="Times New Roman"/>
                <a:ea typeface="Times New Roman"/>
                <a:cs typeface="Times New Roman"/>
                <a:sym typeface="Times New Roman"/>
              </a:rPr>
              <a:t>, using accuracy, precision, recall, and F1-score to ensure robust assessment. Results are stored in the </a:t>
            </a:r>
            <a:r>
              <a:rPr lang="en-US" sz="1200" b="1">
                <a:latin typeface="Times New Roman"/>
                <a:ea typeface="Times New Roman"/>
                <a:cs typeface="Times New Roman"/>
                <a:sym typeface="Times New Roman"/>
              </a:rPr>
              <a:t>Database</a:t>
            </a:r>
            <a:r>
              <a:rPr lang="en-US" sz="1200">
                <a:latin typeface="Times New Roman"/>
                <a:ea typeface="Times New Roman"/>
                <a:cs typeface="Times New Roman"/>
                <a:sym typeface="Times New Roman"/>
              </a:rPr>
              <a:t>, while system activity and performance are tracked through the </a:t>
            </a:r>
            <a:r>
              <a:rPr lang="en-US" sz="1200" b="1">
                <a:latin typeface="Times New Roman"/>
                <a:ea typeface="Times New Roman"/>
                <a:cs typeface="Times New Roman"/>
                <a:sym typeface="Times New Roman"/>
              </a:rPr>
              <a:t>Monitoring and Logging module</a:t>
            </a:r>
            <a:r>
              <a:rPr lang="en-US" sz="1200">
                <a:latin typeface="Times New Roman"/>
                <a:ea typeface="Times New Roman"/>
                <a:cs typeface="Times New Roman"/>
                <a:sym typeface="Times New Roman"/>
              </a:rPr>
              <a:t> for transparency and reliability.</a:t>
            </a:r>
            <a:endParaRPr sz="1200">
              <a:latin typeface="Times New Roman"/>
              <a:ea typeface="Times New Roman"/>
              <a:cs typeface="Times New Roman"/>
              <a:sym typeface="Times New Roman"/>
            </a:endParaRPr>
          </a:p>
          <a:p>
            <a:pPr marL="0" lvl="0" indent="0" algn="just" rtl="0">
              <a:lnSpc>
                <a:spcPct val="115000"/>
              </a:lnSpc>
              <a:spcBef>
                <a:spcPts val="1200"/>
              </a:spcBef>
              <a:spcAft>
                <a:spcPts val="1200"/>
              </a:spcAft>
              <a:buNone/>
            </a:pPr>
            <a:r>
              <a:rPr lang="en-US" sz="1200">
                <a:latin typeface="Times New Roman"/>
                <a:ea typeface="Times New Roman"/>
                <a:cs typeface="Times New Roman"/>
                <a:sym typeface="Times New Roman"/>
              </a:rPr>
              <a:t>This architecture provides </a:t>
            </a:r>
            <a:r>
              <a:rPr lang="en-US" sz="1200" b="1">
                <a:latin typeface="Times New Roman"/>
                <a:ea typeface="Times New Roman"/>
                <a:cs typeface="Times New Roman"/>
                <a:sym typeface="Times New Roman"/>
              </a:rPr>
              <a:t>higher accuracy and stability</a:t>
            </a:r>
            <a:r>
              <a:rPr lang="en-US" sz="1200">
                <a:latin typeface="Times New Roman"/>
                <a:ea typeface="Times New Roman"/>
                <a:cs typeface="Times New Roman"/>
                <a:sym typeface="Times New Roman"/>
              </a:rPr>
              <a:t> than the baseline CNN, though it remains limited to </a:t>
            </a:r>
            <a:r>
              <a:rPr lang="en-US" sz="1200" b="1">
                <a:latin typeface="Times New Roman"/>
                <a:ea typeface="Times New Roman"/>
                <a:cs typeface="Times New Roman"/>
                <a:sym typeface="Times New Roman"/>
              </a:rPr>
              <a:t>binary cancer detection</a:t>
            </a:r>
            <a:r>
              <a:rPr lang="en-US" sz="1200">
                <a:latin typeface="Times New Roman"/>
                <a:ea typeface="Times New Roman"/>
                <a:cs typeface="Times New Roman"/>
                <a:sym typeface="Times New Roman"/>
              </a:rPr>
              <a:t>.</a:t>
            </a:r>
            <a:endParaRPr sz="1200">
              <a:latin typeface="Times New Roman"/>
              <a:ea typeface="Times New Roman"/>
              <a:cs typeface="Times New Roman"/>
              <a:sym typeface="Times New Roman"/>
            </a:endParaRPr>
          </a:p>
        </p:txBody>
      </p:sp>
      <p:pic>
        <p:nvPicPr>
          <p:cNvPr id="148" name="Google Shape;148;p22"/>
          <p:cNvPicPr preferRelativeResize="0"/>
          <p:nvPr/>
        </p:nvPicPr>
        <p:blipFill>
          <a:blip r:embed="rId3">
            <a:alphaModFix/>
          </a:blip>
          <a:stretch>
            <a:fillRect/>
          </a:stretch>
        </p:blipFill>
        <p:spPr>
          <a:xfrm>
            <a:off x="5056250" y="1242563"/>
            <a:ext cx="3063205" cy="5135563"/>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23"/>
          <p:cNvSpPr txBox="1">
            <a:spLocks noGrp="1"/>
          </p:cNvSpPr>
          <p:nvPr>
            <p:ph type="title"/>
          </p:nvPr>
        </p:nvSpPr>
        <p:spPr>
          <a:xfrm>
            <a:off x="914400" y="228600"/>
            <a:ext cx="7086600" cy="792162"/>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Times New Roman"/>
              <a:buNone/>
            </a:pPr>
            <a:r>
              <a:rPr lang="en-US">
                <a:latin typeface="Times New Roman"/>
                <a:ea typeface="Times New Roman"/>
                <a:cs typeface="Times New Roman"/>
                <a:sym typeface="Times New Roman"/>
              </a:rPr>
              <a:t>Conclusion </a:t>
            </a:r>
            <a:endParaRPr/>
          </a:p>
        </p:txBody>
      </p:sp>
      <p:sp>
        <p:nvSpPr>
          <p:cNvPr id="154" name="Google Shape;154;p23"/>
          <p:cNvSpPr txBox="1">
            <a:spLocks noGrp="1"/>
          </p:cNvSpPr>
          <p:nvPr>
            <p:ph type="body" idx="1"/>
          </p:nvPr>
        </p:nvSpPr>
        <p:spPr>
          <a:xfrm>
            <a:off x="304800" y="1143000"/>
            <a:ext cx="8382000" cy="5029200"/>
          </a:xfrm>
          <a:prstGeom prst="rect">
            <a:avLst/>
          </a:prstGeom>
          <a:noFill/>
          <a:ln>
            <a:noFill/>
          </a:ln>
        </p:spPr>
        <p:txBody>
          <a:bodyPr spcFirstLastPara="1" wrap="square" lIns="91425" tIns="45700" rIns="91425" bIns="45700" anchor="t" anchorCtr="0">
            <a:normAutofit/>
          </a:bodyPr>
          <a:lstStyle/>
          <a:p>
            <a:pPr marL="457200" lvl="0" indent="-330200" algn="just" rtl="0">
              <a:lnSpc>
                <a:spcPct val="150000"/>
              </a:lnSpc>
              <a:spcBef>
                <a:spcPts val="320"/>
              </a:spcBef>
              <a:spcAft>
                <a:spcPts val="0"/>
              </a:spcAft>
              <a:buSzPts val="1600"/>
              <a:buFont typeface="Times New Roman"/>
              <a:buChar char="➢"/>
            </a:pPr>
            <a:r>
              <a:rPr lang="en-US" sz="1600">
                <a:latin typeface="Times New Roman"/>
                <a:ea typeface="Times New Roman"/>
                <a:cs typeface="Times New Roman"/>
                <a:sym typeface="Times New Roman"/>
              </a:rPr>
              <a:t>A CNN-based deep learning framework was developed for automated prostate cancer prediction.</a:t>
            </a:r>
            <a:endParaRPr sz="1600">
              <a:latin typeface="Times New Roman"/>
              <a:ea typeface="Times New Roman"/>
              <a:cs typeface="Times New Roman"/>
              <a:sym typeface="Times New Roman"/>
            </a:endParaRPr>
          </a:p>
          <a:p>
            <a:pPr marL="457200" lvl="0" indent="-330200" algn="just" rtl="0">
              <a:lnSpc>
                <a:spcPct val="150000"/>
              </a:lnSpc>
              <a:spcBef>
                <a:spcPts val="0"/>
              </a:spcBef>
              <a:spcAft>
                <a:spcPts val="0"/>
              </a:spcAft>
              <a:buSzPts val="1600"/>
              <a:buFont typeface="Times New Roman"/>
              <a:buChar char="➢"/>
            </a:pPr>
            <a:r>
              <a:rPr lang="en-US" sz="1600">
                <a:latin typeface="Times New Roman"/>
                <a:ea typeface="Times New Roman"/>
                <a:cs typeface="Times New Roman"/>
                <a:sym typeface="Times New Roman"/>
              </a:rPr>
              <a:t>Preprocessing and augmentation improved model generalization.</a:t>
            </a:r>
            <a:endParaRPr sz="1600">
              <a:latin typeface="Times New Roman"/>
              <a:ea typeface="Times New Roman"/>
              <a:cs typeface="Times New Roman"/>
              <a:sym typeface="Times New Roman"/>
            </a:endParaRPr>
          </a:p>
          <a:p>
            <a:pPr marL="457200" lvl="0" indent="-330200" algn="just" rtl="0">
              <a:lnSpc>
                <a:spcPct val="150000"/>
              </a:lnSpc>
              <a:spcBef>
                <a:spcPts val="0"/>
              </a:spcBef>
              <a:spcAft>
                <a:spcPts val="0"/>
              </a:spcAft>
              <a:buSzPts val="1600"/>
              <a:buFont typeface="Times New Roman"/>
              <a:buChar char="➢"/>
            </a:pPr>
            <a:r>
              <a:rPr lang="en-US" sz="1600">
                <a:latin typeface="Times New Roman"/>
                <a:ea typeface="Times New Roman"/>
                <a:cs typeface="Times New Roman"/>
                <a:sym typeface="Times New Roman"/>
              </a:rPr>
              <a:t>The system achieved reliable accuracy and interpretability through confusion matrix and ROC analysis</a:t>
            </a:r>
            <a:endParaRPr sz="1600">
              <a:latin typeface="Times New Roman"/>
              <a:ea typeface="Times New Roman"/>
              <a:cs typeface="Times New Roman"/>
              <a:sym typeface="Times New Roman"/>
            </a:endParaRPr>
          </a:p>
          <a:p>
            <a:pPr marL="457200" lvl="0" indent="-330200" algn="just" rtl="0">
              <a:lnSpc>
                <a:spcPct val="150000"/>
              </a:lnSpc>
              <a:spcBef>
                <a:spcPts val="0"/>
              </a:spcBef>
              <a:spcAft>
                <a:spcPts val="0"/>
              </a:spcAft>
              <a:buSzPts val="1600"/>
              <a:buFont typeface="Times New Roman"/>
              <a:buChar char="➢"/>
            </a:pPr>
            <a:r>
              <a:rPr lang="en-US" sz="1600">
                <a:latin typeface="Times New Roman"/>
                <a:ea typeface="Times New Roman"/>
                <a:cs typeface="Times New Roman"/>
                <a:sym typeface="Times New Roman"/>
              </a:rPr>
              <a:t>Deployment as a Flask web app makes it practical for real-time clinical support.</a:t>
            </a:r>
            <a:endParaRPr sz="1600">
              <a:latin typeface="Times New Roman"/>
              <a:ea typeface="Times New Roman"/>
              <a:cs typeface="Times New Roman"/>
              <a:sym typeface="Times New Roman"/>
            </a:endParaRPr>
          </a:p>
          <a:p>
            <a:pPr marL="457200" lvl="0" indent="-330200" algn="just" rtl="0">
              <a:lnSpc>
                <a:spcPct val="150000"/>
              </a:lnSpc>
              <a:spcBef>
                <a:spcPts val="0"/>
              </a:spcBef>
              <a:spcAft>
                <a:spcPts val="0"/>
              </a:spcAft>
              <a:buSzPts val="1600"/>
              <a:buFont typeface="Times New Roman"/>
              <a:buChar char="➢"/>
            </a:pPr>
            <a:r>
              <a:rPr lang="en-US" sz="1600">
                <a:latin typeface="Times New Roman"/>
                <a:ea typeface="Times New Roman"/>
                <a:cs typeface="Times New Roman"/>
                <a:sym typeface="Times New Roman"/>
              </a:rPr>
              <a:t>Future work: integrating explainable AI (e.g., Grad-CAM heatmaps) and expanding datasets for higher robustness</a:t>
            </a:r>
            <a:endParaRPr sz="1600">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24"/>
          <p:cNvSpPr txBox="1">
            <a:spLocks noGrp="1"/>
          </p:cNvSpPr>
          <p:nvPr>
            <p:ph type="title"/>
          </p:nvPr>
        </p:nvSpPr>
        <p:spPr>
          <a:xfrm>
            <a:off x="457200" y="274638"/>
            <a:ext cx="8229600" cy="639762"/>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100000"/>
              <a:buFont typeface="Calibri"/>
              <a:buNone/>
            </a:pPr>
            <a:r>
              <a:rPr lang="en-US"/>
              <a:t>References</a:t>
            </a:r>
            <a:endParaRPr/>
          </a:p>
        </p:txBody>
      </p:sp>
      <p:sp>
        <p:nvSpPr>
          <p:cNvPr id="160" name="Google Shape;160;p24"/>
          <p:cNvSpPr txBox="1">
            <a:spLocks noGrp="1"/>
          </p:cNvSpPr>
          <p:nvPr>
            <p:ph type="body" idx="1"/>
          </p:nvPr>
        </p:nvSpPr>
        <p:spPr>
          <a:xfrm>
            <a:off x="228600" y="1295400"/>
            <a:ext cx="8229600" cy="5072400"/>
          </a:xfrm>
          <a:prstGeom prst="rect">
            <a:avLst/>
          </a:prstGeom>
          <a:noFill/>
          <a:ln>
            <a:noFill/>
          </a:ln>
        </p:spPr>
        <p:txBody>
          <a:bodyPr spcFirstLastPara="1" wrap="square" lIns="91425" tIns="45700" rIns="91425" bIns="45700" anchor="t" anchorCtr="0">
            <a:noAutofit/>
          </a:bodyPr>
          <a:lstStyle/>
          <a:p>
            <a:pPr marL="342900" lvl="0" indent="-330200" algn="just" rtl="0">
              <a:lnSpc>
                <a:spcPct val="100000"/>
              </a:lnSpc>
              <a:spcBef>
                <a:spcPts val="0"/>
              </a:spcBef>
              <a:spcAft>
                <a:spcPts val="0"/>
              </a:spcAft>
              <a:buClr>
                <a:schemeClr val="dk1"/>
              </a:buClr>
              <a:buSzPts val="1800"/>
              <a:buFont typeface="Times New Roman"/>
              <a:buChar char="•"/>
            </a:pPr>
            <a:r>
              <a:rPr lang="en-US" sz="1800">
                <a:solidFill>
                  <a:srgbClr val="222222"/>
                </a:solidFill>
                <a:highlight>
                  <a:srgbClr val="FFFFFF"/>
                </a:highlight>
                <a:latin typeface="Times New Roman"/>
                <a:ea typeface="Times New Roman"/>
                <a:cs typeface="Times New Roman"/>
                <a:sym typeface="Times New Roman"/>
              </a:rPr>
              <a:t>Esteban, L. M., Borque-Fernando, Á., Escorihuela, M. E., Esteban-Escaño, J., Abascal, J. M., Servian, P., &amp; Morote, J. (2025). Integrating radiological and clinical data for clinically significant prostate cancer detection with machine learning techniques. </a:t>
            </a:r>
            <a:r>
              <a:rPr lang="en-US" sz="1800" i="1">
                <a:solidFill>
                  <a:srgbClr val="222222"/>
                </a:solidFill>
                <a:highlight>
                  <a:srgbClr val="FFFFFF"/>
                </a:highlight>
                <a:latin typeface="Times New Roman"/>
                <a:ea typeface="Times New Roman"/>
                <a:cs typeface="Times New Roman"/>
                <a:sym typeface="Times New Roman"/>
              </a:rPr>
              <a:t>Scientific reports</a:t>
            </a:r>
            <a:r>
              <a:rPr lang="en-US" sz="1800">
                <a:solidFill>
                  <a:srgbClr val="222222"/>
                </a:solidFill>
                <a:highlight>
                  <a:srgbClr val="FFFFFF"/>
                </a:highlight>
                <a:latin typeface="Times New Roman"/>
                <a:ea typeface="Times New Roman"/>
                <a:cs typeface="Times New Roman"/>
                <a:sym typeface="Times New Roman"/>
              </a:rPr>
              <a:t>, </a:t>
            </a:r>
            <a:r>
              <a:rPr lang="en-US" sz="1800" i="1">
                <a:solidFill>
                  <a:srgbClr val="222222"/>
                </a:solidFill>
                <a:highlight>
                  <a:srgbClr val="FFFFFF"/>
                </a:highlight>
                <a:latin typeface="Times New Roman"/>
                <a:ea typeface="Times New Roman"/>
                <a:cs typeface="Times New Roman"/>
                <a:sym typeface="Times New Roman"/>
              </a:rPr>
              <a:t>15</a:t>
            </a:r>
            <a:r>
              <a:rPr lang="en-US" sz="1800">
                <a:solidFill>
                  <a:srgbClr val="222222"/>
                </a:solidFill>
                <a:highlight>
                  <a:srgbClr val="FFFFFF"/>
                </a:highlight>
                <a:latin typeface="Times New Roman"/>
                <a:ea typeface="Times New Roman"/>
                <a:cs typeface="Times New Roman"/>
                <a:sym typeface="Times New Roman"/>
              </a:rPr>
              <a:t>(1), 4261.</a:t>
            </a:r>
            <a:endParaRPr sz="1800">
              <a:solidFill>
                <a:srgbClr val="222222"/>
              </a:solidFill>
              <a:highlight>
                <a:srgbClr val="FFFFFF"/>
              </a:highlight>
              <a:latin typeface="Times New Roman"/>
              <a:ea typeface="Times New Roman"/>
              <a:cs typeface="Times New Roman"/>
              <a:sym typeface="Times New Roman"/>
            </a:endParaRPr>
          </a:p>
          <a:p>
            <a:pPr marL="342900" lvl="0" indent="-330200" algn="just" rtl="0">
              <a:lnSpc>
                <a:spcPct val="100000"/>
              </a:lnSpc>
              <a:spcBef>
                <a:spcPts val="0"/>
              </a:spcBef>
              <a:spcAft>
                <a:spcPts val="0"/>
              </a:spcAft>
              <a:buClr>
                <a:srgbClr val="222222"/>
              </a:buClr>
              <a:buSzPts val="1800"/>
              <a:buFont typeface="Times New Roman"/>
              <a:buChar char="•"/>
            </a:pPr>
            <a:r>
              <a:rPr lang="en-US" sz="1800">
                <a:solidFill>
                  <a:srgbClr val="222222"/>
                </a:solidFill>
                <a:highlight>
                  <a:srgbClr val="FFFFFF"/>
                </a:highlight>
                <a:latin typeface="Times New Roman"/>
                <a:ea typeface="Times New Roman"/>
                <a:cs typeface="Times New Roman"/>
                <a:sym typeface="Times New Roman"/>
              </a:rPr>
              <a:t>Alataş, E., Tanyıldızı Kökkülünk, H., Tanyıldızı, H., &amp; Alcın, G. (2025). Treatment prediction with machine learning in prostate cancer patients. </a:t>
            </a:r>
            <a:r>
              <a:rPr lang="en-US" sz="1800" i="1">
                <a:solidFill>
                  <a:srgbClr val="222222"/>
                </a:solidFill>
                <a:highlight>
                  <a:srgbClr val="FFFFFF"/>
                </a:highlight>
                <a:latin typeface="Times New Roman"/>
                <a:ea typeface="Times New Roman"/>
                <a:cs typeface="Times New Roman"/>
                <a:sym typeface="Times New Roman"/>
              </a:rPr>
              <a:t>Computer Methods in Biomechanics and Biomedical Engineering</a:t>
            </a:r>
            <a:r>
              <a:rPr lang="en-US" sz="1800">
                <a:solidFill>
                  <a:srgbClr val="222222"/>
                </a:solidFill>
                <a:highlight>
                  <a:srgbClr val="FFFFFF"/>
                </a:highlight>
                <a:latin typeface="Times New Roman"/>
                <a:ea typeface="Times New Roman"/>
                <a:cs typeface="Times New Roman"/>
                <a:sym typeface="Times New Roman"/>
              </a:rPr>
              <a:t>, </a:t>
            </a:r>
            <a:r>
              <a:rPr lang="en-US" sz="1800" i="1">
                <a:solidFill>
                  <a:srgbClr val="222222"/>
                </a:solidFill>
                <a:highlight>
                  <a:srgbClr val="FFFFFF"/>
                </a:highlight>
                <a:latin typeface="Times New Roman"/>
                <a:ea typeface="Times New Roman"/>
                <a:cs typeface="Times New Roman"/>
                <a:sym typeface="Times New Roman"/>
              </a:rPr>
              <a:t>28</a:t>
            </a:r>
            <a:r>
              <a:rPr lang="en-US" sz="1800">
                <a:solidFill>
                  <a:srgbClr val="222222"/>
                </a:solidFill>
                <a:highlight>
                  <a:srgbClr val="FFFFFF"/>
                </a:highlight>
                <a:latin typeface="Times New Roman"/>
                <a:ea typeface="Times New Roman"/>
                <a:cs typeface="Times New Roman"/>
                <a:sym typeface="Times New Roman"/>
              </a:rPr>
              <a:t>(4), 572-580.</a:t>
            </a:r>
            <a:endParaRPr sz="1800">
              <a:solidFill>
                <a:srgbClr val="222222"/>
              </a:solidFill>
              <a:highlight>
                <a:srgbClr val="FFFFFF"/>
              </a:highlight>
              <a:latin typeface="Times New Roman"/>
              <a:ea typeface="Times New Roman"/>
              <a:cs typeface="Times New Roman"/>
              <a:sym typeface="Times New Roman"/>
            </a:endParaRPr>
          </a:p>
          <a:p>
            <a:pPr marL="342900" lvl="0" indent="-330200" algn="just" rtl="0">
              <a:lnSpc>
                <a:spcPct val="100000"/>
              </a:lnSpc>
              <a:spcBef>
                <a:spcPts val="0"/>
              </a:spcBef>
              <a:spcAft>
                <a:spcPts val="0"/>
              </a:spcAft>
              <a:buClr>
                <a:srgbClr val="222222"/>
              </a:buClr>
              <a:buSzPts val="1800"/>
              <a:buFont typeface="Times New Roman"/>
              <a:buChar char="•"/>
            </a:pPr>
            <a:r>
              <a:rPr lang="en-US" sz="1800">
                <a:solidFill>
                  <a:srgbClr val="222222"/>
                </a:solidFill>
                <a:highlight>
                  <a:srgbClr val="FFFFFF"/>
                </a:highlight>
                <a:latin typeface="Times New Roman"/>
                <a:ea typeface="Times New Roman"/>
                <a:cs typeface="Times New Roman"/>
                <a:sym typeface="Times New Roman"/>
              </a:rPr>
              <a:t>Li, Y., Zhou, T., Liu, Z., Zhu, X., Wu, Q., Meng, C., &amp; Deng, Q. (2025). Air pollution and prostate cancer: Unraveling the connection through network toxicology and machine learning. </a:t>
            </a:r>
            <a:r>
              <a:rPr lang="en-US" sz="1800" i="1">
                <a:solidFill>
                  <a:srgbClr val="222222"/>
                </a:solidFill>
                <a:highlight>
                  <a:srgbClr val="FFFFFF"/>
                </a:highlight>
                <a:latin typeface="Times New Roman"/>
                <a:ea typeface="Times New Roman"/>
                <a:cs typeface="Times New Roman"/>
                <a:sym typeface="Times New Roman"/>
              </a:rPr>
              <a:t>Ecotoxicology and Environmental Safety</a:t>
            </a:r>
            <a:r>
              <a:rPr lang="en-US" sz="1800">
                <a:solidFill>
                  <a:srgbClr val="222222"/>
                </a:solidFill>
                <a:highlight>
                  <a:srgbClr val="FFFFFF"/>
                </a:highlight>
                <a:latin typeface="Times New Roman"/>
                <a:ea typeface="Times New Roman"/>
                <a:cs typeface="Times New Roman"/>
                <a:sym typeface="Times New Roman"/>
              </a:rPr>
              <a:t>, </a:t>
            </a:r>
            <a:r>
              <a:rPr lang="en-US" sz="1800" i="1">
                <a:solidFill>
                  <a:srgbClr val="222222"/>
                </a:solidFill>
                <a:highlight>
                  <a:srgbClr val="FFFFFF"/>
                </a:highlight>
                <a:latin typeface="Times New Roman"/>
                <a:ea typeface="Times New Roman"/>
                <a:cs typeface="Times New Roman"/>
                <a:sym typeface="Times New Roman"/>
              </a:rPr>
              <a:t>292</a:t>
            </a:r>
            <a:r>
              <a:rPr lang="en-US" sz="1800">
                <a:solidFill>
                  <a:srgbClr val="222222"/>
                </a:solidFill>
                <a:highlight>
                  <a:srgbClr val="FFFFFF"/>
                </a:highlight>
                <a:latin typeface="Times New Roman"/>
                <a:ea typeface="Times New Roman"/>
                <a:cs typeface="Times New Roman"/>
                <a:sym typeface="Times New Roman"/>
              </a:rPr>
              <a:t>, 117966.</a:t>
            </a:r>
            <a:endParaRPr sz="1800">
              <a:solidFill>
                <a:srgbClr val="222222"/>
              </a:solidFill>
              <a:highlight>
                <a:srgbClr val="FFFFFF"/>
              </a:highlight>
              <a:latin typeface="Times New Roman"/>
              <a:ea typeface="Times New Roman"/>
              <a:cs typeface="Times New Roman"/>
              <a:sym typeface="Times New Roman"/>
            </a:endParaRPr>
          </a:p>
          <a:p>
            <a:pPr marL="342900" lvl="0" indent="-330200" algn="just" rtl="0">
              <a:lnSpc>
                <a:spcPct val="100000"/>
              </a:lnSpc>
              <a:spcBef>
                <a:spcPts val="0"/>
              </a:spcBef>
              <a:spcAft>
                <a:spcPts val="0"/>
              </a:spcAft>
              <a:buClr>
                <a:srgbClr val="222222"/>
              </a:buClr>
              <a:buSzPts val="1800"/>
              <a:buFont typeface="Times New Roman"/>
              <a:buChar char="•"/>
            </a:pPr>
            <a:r>
              <a:rPr lang="en-US" sz="1800">
                <a:solidFill>
                  <a:srgbClr val="222222"/>
                </a:solidFill>
                <a:highlight>
                  <a:srgbClr val="FFFFFF"/>
                </a:highlight>
                <a:latin typeface="Times New Roman"/>
                <a:ea typeface="Times New Roman"/>
                <a:cs typeface="Times New Roman"/>
                <a:sym typeface="Times New Roman"/>
              </a:rPr>
              <a:t>Singh, S., Pathak, A. K., Kural, S., Kumar, L., Bhardwaj, M. G., Yadav, M., ... &amp; Jain, G. (2025). Integrating miRNA profiling and machine learning for improved prostate cancer diagnosis. </a:t>
            </a:r>
            <a:r>
              <a:rPr lang="en-US" sz="1800" i="1">
                <a:solidFill>
                  <a:srgbClr val="222222"/>
                </a:solidFill>
                <a:highlight>
                  <a:srgbClr val="FFFFFF"/>
                </a:highlight>
                <a:latin typeface="Times New Roman"/>
                <a:ea typeface="Times New Roman"/>
                <a:cs typeface="Times New Roman"/>
                <a:sym typeface="Times New Roman"/>
              </a:rPr>
              <a:t>Scientific Reports</a:t>
            </a:r>
            <a:r>
              <a:rPr lang="en-US" sz="1800">
                <a:solidFill>
                  <a:srgbClr val="222222"/>
                </a:solidFill>
                <a:highlight>
                  <a:srgbClr val="FFFFFF"/>
                </a:highlight>
                <a:latin typeface="Times New Roman"/>
                <a:ea typeface="Times New Roman"/>
                <a:cs typeface="Times New Roman"/>
                <a:sym typeface="Times New Roman"/>
              </a:rPr>
              <a:t>, </a:t>
            </a:r>
            <a:r>
              <a:rPr lang="en-US" sz="1800" i="1">
                <a:solidFill>
                  <a:srgbClr val="222222"/>
                </a:solidFill>
                <a:highlight>
                  <a:srgbClr val="FFFFFF"/>
                </a:highlight>
                <a:latin typeface="Times New Roman"/>
                <a:ea typeface="Times New Roman"/>
                <a:cs typeface="Times New Roman"/>
                <a:sym typeface="Times New Roman"/>
              </a:rPr>
              <a:t>15</a:t>
            </a:r>
            <a:r>
              <a:rPr lang="en-US" sz="1800">
                <a:solidFill>
                  <a:srgbClr val="222222"/>
                </a:solidFill>
                <a:highlight>
                  <a:srgbClr val="FFFFFF"/>
                </a:highlight>
                <a:latin typeface="Times New Roman"/>
                <a:ea typeface="Times New Roman"/>
                <a:cs typeface="Times New Roman"/>
                <a:sym typeface="Times New Roman"/>
              </a:rPr>
              <a:t>(1), 30477.</a:t>
            </a:r>
            <a:endParaRPr sz="1800">
              <a:solidFill>
                <a:srgbClr val="222222"/>
              </a:solidFill>
              <a:highlight>
                <a:srgbClr val="FFFFFF"/>
              </a:highlight>
              <a:latin typeface="Times New Roman"/>
              <a:ea typeface="Times New Roman"/>
              <a:cs typeface="Times New Roman"/>
              <a:sym typeface="Times New Roman"/>
            </a:endParaRPr>
          </a:p>
          <a:p>
            <a:pPr marL="342900" lvl="0" indent="-330200" algn="just" rtl="0">
              <a:lnSpc>
                <a:spcPct val="100000"/>
              </a:lnSpc>
              <a:spcBef>
                <a:spcPts val="0"/>
              </a:spcBef>
              <a:spcAft>
                <a:spcPts val="0"/>
              </a:spcAft>
              <a:buClr>
                <a:srgbClr val="222222"/>
              </a:buClr>
              <a:buSzPts val="1800"/>
              <a:buFont typeface="Times New Roman"/>
              <a:buChar char="•"/>
            </a:pPr>
            <a:r>
              <a:rPr lang="en-US" sz="1800">
                <a:solidFill>
                  <a:srgbClr val="222222"/>
                </a:solidFill>
                <a:highlight>
                  <a:srgbClr val="FFFFFF"/>
                </a:highlight>
                <a:latin typeface="Times New Roman"/>
                <a:ea typeface="Times New Roman"/>
                <a:cs typeface="Times New Roman"/>
                <a:sym typeface="Times New Roman"/>
              </a:rPr>
              <a:t>Yao, F., Lin, H., Xue, Y. N., Zhuang, Y. D., Bian, S. Y., Zhang, Y. Y., ... &amp; Pan, K. H. (2025). Multimodal imaging deep learning model for predicting extraprostatic extension in prostate cancer using MpMRI and 18 F-PSMA-PET/CT. </a:t>
            </a:r>
            <a:r>
              <a:rPr lang="en-US" sz="1800" i="1">
                <a:solidFill>
                  <a:srgbClr val="222222"/>
                </a:solidFill>
                <a:highlight>
                  <a:srgbClr val="FFFFFF"/>
                </a:highlight>
                <a:latin typeface="Times New Roman"/>
                <a:ea typeface="Times New Roman"/>
                <a:cs typeface="Times New Roman"/>
                <a:sym typeface="Times New Roman"/>
              </a:rPr>
              <a:t>Cancer Imaging</a:t>
            </a:r>
            <a:r>
              <a:rPr lang="en-US" sz="1800">
                <a:solidFill>
                  <a:srgbClr val="222222"/>
                </a:solidFill>
                <a:highlight>
                  <a:srgbClr val="FFFFFF"/>
                </a:highlight>
                <a:latin typeface="Times New Roman"/>
                <a:ea typeface="Times New Roman"/>
                <a:cs typeface="Times New Roman"/>
                <a:sym typeface="Times New Roman"/>
              </a:rPr>
              <a:t>, </a:t>
            </a:r>
            <a:r>
              <a:rPr lang="en-US" sz="1800" i="1">
                <a:solidFill>
                  <a:srgbClr val="222222"/>
                </a:solidFill>
                <a:highlight>
                  <a:srgbClr val="FFFFFF"/>
                </a:highlight>
                <a:latin typeface="Times New Roman"/>
                <a:ea typeface="Times New Roman"/>
                <a:cs typeface="Times New Roman"/>
                <a:sym typeface="Times New Roman"/>
              </a:rPr>
              <a:t>25</a:t>
            </a:r>
            <a:r>
              <a:rPr lang="en-US" sz="1800">
                <a:solidFill>
                  <a:srgbClr val="222222"/>
                </a:solidFill>
                <a:highlight>
                  <a:srgbClr val="FFFFFF"/>
                </a:highlight>
                <a:latin typeface="Times New Roman"/>
                <a:ea typeface="Times New Roman"/>
                <a:cs typeface="Times New Roman"/>
                <a:sym typeface="Times New Roman"/>
              </a:rPr>
              <a:t>(1), 103.</a:t>
            </a:r>
            <a:endParaRPr sz="1800">
              <a:solidFill>
                <a:srgbClr val="222222"/>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25"/>
          <p:cNvSpPr txBox="1">
            <a:spLocks noGrp="1"/>
          </p:cNvSpPr>
          <p:nvPr>
            <p:ph type="title"/>
          </p:nvPr>
        </p:nvSpPr>
        <p:spPr>
          <a:xfrm>
            <a:off x="457200" y="2857500"/>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a:t>THANK YOU</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1314</Words>
  <Application>Microsoft Office PowerPoint</Application>
  <PresentationFormat>On-screen Show (4:3)</PresentationFormat>
  <Paragraphs>67</Paragraphs>
  <Slides>13</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Noto Sans Symbols</vt:lpstr>
      <vt:lpstr>Calibri</vt:lpstr>
      <vt:lpstr>Times New Roman</vt:lpstr>
      <vt:lpstr>Arial</vt:lpstr>
      <vt:lpstr>Book Antiqua</vt:lpstr>
      <vt:lpstr>Office Theme</vt:lpstr>
      <vt:lpstr>PowerPoint Presentation</vt:lpstr>
      <vt:lpstr> CONTENTS </vt:lpstr>
      <vt:lpstr>ABSTRACT</vt:lpstr>
      <vt:lpstr>INTRODUCTION</vt:lpstr>
      <vt:lpstr>LITERATURE SURVEY</vt:lpstr>
      <vt:lpstr>EXISTING SYSTEM</vt:lpstr>
      <vt:lpstr>PROPOSED SYSTEM</vt:lpstr>
      <vt:lpstr>PROPOSED SYSTEM</vt:lpstr>
      <vt:lpstr> PROPOSED SYSTEM</vt:lpstr>
      <vt:lpstr>BLOCK DIAGRAM</vt:lpstr>
      <vt:lpstr>Conclusion </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sumith reddy</dc:creator>
  <cp:lastModifiedBy>sumith reddy</cp:lastModifiedBy>
  <cp:revision>1</cp:revision>
  <dcterms:modified xsi:type="dcterms:W3CDTF">2026-02-26T17:28:16Z</dcterms:modified>
</cp:coreProperties>
</file>